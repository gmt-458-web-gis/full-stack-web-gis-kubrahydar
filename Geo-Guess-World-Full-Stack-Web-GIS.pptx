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Consolas" panose="020B0609020204030204" pitchFamily="49" charset="0"/>
      <p:regular r:id="rId10"/>
      <p:bold r:id="rId11"/>
      <p:italic r:id="rId12"/>
      <p:boldItalic r:id="rId13"/>
    </p:embeddedFont>
    <p:embeddedFont>
      <p:font typeface="Mukta Light" panose="020B0604020202020204" charset="0"/>
      <p:regular r:id="rId14"/>
    </p:embeddedFont>
    <p:embeddedFont>
      <p:font typeface="Prompt Medium" panose="00000600000000000000" pitchFamily="2" charset="-34"/>
      <p:regular r:id="rId15"/>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79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0286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txBody>
          <a:bodyPr/>
          <a:lstStyle/>
          <a:p>
            <a:endParaRPr lang="tr-TR"/>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2523887"/>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Geo Guess World – Full Stack Web GIS</a:t>
            </a:r>
            <a:endParaRPr lang="en-US" sz="3850" dirty="0"/>
          </a:p>
        </p:txBody>
      </p:sp>
      <p:sp>
        <p:nvSpPr>
          <p:cNvPr id="4" name="Text 1"/>
          <p:cNvSpPr/>
          <p:nvPr/>
        </p:nvSpPr>
        <p:spPr>
          <a:xfrm>
            <a:off x="6367462" y="4078248"/>
            <a:ext cx="7381875"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Presented for GMT 458 – Web GIS</a:t>
            </a:r>
            <a:endParaRPr lang="en-US" sz="1700" dirty="0"/>
          </a:p>
        </p:txBody>
      </p:sp>
      <p:sp>
        <p:nvSpPr>
          <p:cNvPr id="5" name="Text 2"/>
          <p:cNvSpPr/>
          <p:nvPr/>
        </p:nvSpPr>
        <p:spPr>
          <a:xfrm>
            <a:off x="6367462" y="4761071"/>
            <a:ext cx="5646301"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Student: Hatice Kübra Haydar</a:t>
            </a:r>
            <a:endParaRPr lang="en-US" sz="3050" dirty="0"/>
          </a:p>
        </p:txBody>
      </p:sp>
      <p:sp>
        <p:nvSpPr>
          <p:cNvPr id="6" name="Text 3"/>
          <p:cNvSpPr/>
          <p:nvPr/>
        </p:nvSpPr>
        <p:spPr>
          <a:xfrm>
            <a:off x="6367462" y="5338643"/>
            <a:ext cx="5361027" cy="367070"/>
          </a:xfrm>
          <a:prstGeom prst="rect">
            <a:avLst/>
          </a:prstGeom>
          <a:noFill/>
          <a:ln/>
        </p:spPr>
        <p:txBody>
          <a:bodyPr wrap="none" lIns="0" tIns="0" rIns="0" bIns="0" rtlCol="0" anchor="t"/>
          <a:lstStyle/>
          <a:p>
            <a:pPr marL="0" indent="0" algn="l">
              <a:lnSpc>
                <a:spcPts val="2850"/>
              </a:lnSpc>
              <a:buNone/>
            </a:pPr>
            <a:r>
              <a:rPr lang="en-US" sz="2300" dirty="0">
                <a:solidFill>
                  <a:srgbClr val="C6BFEE"/>
                </a:solidFill>
                <a:latin typeface="Prompt Medium" pitchFamily="34" charset="0"/>
                <a:ea typeface="Prompt Medium" pitchFamily="34" charset="-122"/>
                <a:cs typeface="Prompt Medium" pitchFamily="34" charset="-120"/>
              </a:rPr>
              <a:t>Technology Focus: Full Stack Web GIS</a:t>
            </a:r>
            <a:endParaRPr lang="en-US" sz="2300" dirty="0"/>
          </a:p>
        </p:txBody>
      </p:sp>
      <p:pic>
        <p:nvPicPr>
          <p:cNvPr id="8" name="Resim 7" descr="ekran görüntüsü, siyah içeren bir resim&#10;&#10;Yapay zeka tarafından oluşturulmuş içerik yanlış olabilir.">
            <a:extLst>
              <a:ext uri="{FF2B5EF4-FFF2-40B4-BE49-F238E27FC236}">
                <a16:creationId xmlns:a16="http://schemas.microsoft.com/office/drawing/2014/main" id="{BAD81FBE-44DB-86D6-384A-F633E9C0BF92}"/>
              </a:ext>
            </a:extLst>
          </p:cNvPr>
          <p:cNvPicPr>
            <a:picLocks noChangeAspect="1"/>
          </p:cNvPicPr>
          <p:nvPr/>
        </p:nvPicPr>
        <p:blipFill>
          <a:blip r:embed="rId4"/>
          <a:stretch>
            <a:fillRect/>
          </a:stretch>
        </p:blipFill>
        <p:spPr>
          <a:xfrm>
            <a:off x="12618546" y="7711395"/>
            <a:ext cx="2011854" cy="5182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84026"/>
          </a:xfrm>
          <a:prstGeom prst="rect">
            <a:avLst/>
          </a:prstGeom>
        </p:spPr>
      </p:pic>
      <p:sp>
        <p:nvSpPr>
          <p:cNvPr id="3" name="Text 0"/>
          <p:cNvSpPr/>
          <p:nvPr/>
        </p:nvSpPr>
        <p:spPr>
          <a:xfrm>
            <a:off x="858798" y="3276005"/>
            <a:ext cx="6655832" cy="477083"/>
          </a:xfrm>
          <a:prstGeom prst="rect">
            <a:avLst/>
          </a:prstGeom>
          <a:noFill/>
          <a:ln/>
        </p:spPr>
        <p:txBody>
          <a:bodyPr wrap="none" lIns="0" tIns="0" rIns="0" bIns="0" rtlCol="0" anchor="t"/>
          <a:lstStyle/>
          <a:p>
            <a:pPr marL="0" indent="0" algn="l">
              <a:lnSpc>
                <a:spcPts val="3750"/>
              </a:lnSpc>
              <a:buNone/>
            </a:pPr>
            <a:r>
              <a:rPr lang="en-US" sz="3000" dirty="0">
                <a:solidFill>
                  <a:srgbClr val="C6BFEE"/>
                </a:solidFill>
                <a:latin typeface="Prompt Medium" pitchFamily="34" charset="0"/>
                <a:ea typeface="Prompt Medium" pitchFamily="34" charset="-122"/>
                <a:cs typeface="Prompt Medium" pitchFamily="34" charset="-120"/>
              </a:rPr>
              <a:t>Project Overview: Geo Guess World</a:t>
            </a:r>
            <a:endParaRPr lang="en-US" sz="3000" dirty="0"/>
          </a:p>
        </p:txBody>
      </p:sp>
      <p:sp>
        <p:nvSpPr>
          <p:cNvPr id="4" name="Text 1"/>
          <p:cNvSpPr/>
          <p:nvPr/>
        </p:nvSpPr>
        <p:spPr>
          <a:xfrm>
            <a:off x="858798" y="4075152"/>
            <a:ext cx="12912804" cy="686752"/>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This project introduces a full-stack Web GIS application designed for an interactive map-based guessing game called "Geo Guess World." The application allows users to log in, explore geographic locations, and test their spatial reasoning skills.</a:t>
            </a:r>
            <a:endParaRPr lang="en-US" sz="1650" dirty="0"/>
          </a:p>
        </p:txBody>
      </p:sp>
      <p:sp>
        <p:nvSpPr>
          <p:cNvPr id="5" name="Shape 2"/>
          <p:cNvSpPr/>
          <p:nvPr/>
        </p:nvSpPr>
        <p:spPr>
          <a:xfrm>
            <a:off x="858798" y="5003363"/>
            <a:ext cx="4161115" cy="2634258"/>
          </a:xfrm>
          <a:prstGeom prst="roundRect">
            <a:avLst>
              <a:gd name="adj" fmla="val 5554"/>
            </a:avLst>
          </a:prstGeom>
          <a:solidFill>
            <a:srgbClr val="0B0C23">
              <a:alpha val="95000"/>
            </a:srgbClr>
          </a:solidFill>
          <a:ln w="30480">
            <a:solidFill>
              <a:srgbClr val="6D4562"/>
            </a:solidFill>
            <a:prstDash val="solid"/>
          </a:ln>
        </p:spPr>
        <p:txBody>
          <a:bodyPr/>
          <a:lstStyle/>
          <a:p>
            <a:endParaRPr lang="tr-TR"/>
          </a:p>
        </p:txBody>
      </p:sp>
      <p:sp>
        <p:nvSpPr>
          <p:cNvPr id="6" name="Shape 3"/>
          <p:cNvSpPr/>
          <p:nvPr/>
        </p:nvSpPr>
        <p:spPr>
          <a:xfrm>
            <a:off x="828318" y="5003363"/>
            <a:ext cx="121920" cy="2634258"/>
          </a:xfrm>
          <a:prstGeom prst="roundRect">
            <a:avLst>
              <a:gd name="adj" fmla="val 73971"/>
            </a:avLst>
          </a:prstGeom>
          <a:solidFill>
            <a:srgbClr val="A95B95"/>
          </a:solidFill>
          <a:ln/>
        </p:spPr>
        <p:txBody>
          <a:bodyPr/>
          <a:lstStyle/>
          <a:p>
            <a:endParaRPr lang="tr-TR"/>
          </a:p>
        </p:txBody>
      </p:sp>
      <p:sp>
        <p:nvSpPr>
          <p:cNvPr id="7" name="Text 4"/>
          <p:cNvSpPr/>
          <p:nvPr/>
        </p:nvSpPr>
        <p:spPr>
          <a:xfrm>
            <a:off x="1195387" y="5248513"/>
            <a:ext cx="2458522" cy="298252"/>
          </a:xfrm>
          <a:prstGeom prst="rect">
            <a:avLst/>
          </a:prstGeom>
          <a:noFill/>
          <a:ln/>
        </p:spPr>
        <p:txBody>
          <a:bodyPr wrap="none" lIns="0" tIns="0" rIns="0" bIns="0" rtlCol="0" anchor="t"/>
          <a:lstStyle/>
          <a:p>
            <a:pPr marL="0" indent="0" algn="l">
              <a:lnSpc>
                <a:spcPts val="2300"/>
              </a:lnSpc>
              <a:buNone/>
            </a:pPr>
            <a:r>
              <a:rPr lang="en-US" sz="1850" dirty="0">
                <a:solidFill>
                  <a:srgbClr val="DAD8E9"/>
                </a:solidFill>
                <a:latin typeface="Prompt Medium" pitchFamily="34" charset="0"/>
                <a:ea typeface="Prompt Medium" pitchFamily="34" charset="-122"/>
                <a:cs typeface="Prompt Medium" pitchFamily="34" charset="-120"/>
              </a:rPr>
              <a:t>Interactive Gameplay</a:t>
            </a:r>
            <a:endParaRPr lang="en-US" sz="1850" dirty="0"/>
          </a:p>
        </p:txBody>
      </p:sp>
      <p:sp>
        <p:nvSpPr>
          <p:cNvPr id="8" name="Text 5"/>
          <p:cNvSpPr/>
          <p:nvPr/>
        </p:nvSpPr>
        <p:spPr>
          <a:xfrm>
            <a:off x="1195387" y="5675590"/>
            <a:ext cx="3579376" cy="1373505"/>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Users engage in a map-based game where they identify locations, combining entertainment with geographical learning.</a:t>
            </a:r>
            <a:endParaRPr lang="en-US" sz="1650" dirty="0"/>
          </a:p>
        </p:txBody>
      </p:sp>
      <p:sp>
        <p:nvSpPr>
          <p:cNvPr id="9" name="Shape 6"/>
          <p:cNvSpPr/>
          <p:nvPr/>
        </p:nvSpPr>
        <p:spPr>
          <a:xfrm>
            <a:off x="5234583" y="5003363"/>
            <a:ext cx="4161115" cy="2634258"/>
          </a:xfrm>
          <a:prstGeom prst="roundRect">
            <a:avLst>
              <a:gd name="adj" fmla="val 5554"/>
            </a:avLst>
          </a:prstGeom>
          <a:solidFill>
            <a:srgbClr val="0B0C23">
              <a:alpha val="95000"/>
            </a:srgbClr>
          </a:solidFill>
          <a:ln w="30480">
            <a:solidFill>
              <a:srgbClr val="6D4562"/>
            </a:solidFill>
            <a:prstDash val="solid"/>
          </a:ln>
        </p:spPr>
        <p:txBody>
          <a:bodyPr/>
          <a:lstStyle/>
          <a:p>
            <a:endParaRPr lang="tr-TR"/>
          </a:p>
        </p:txBody>
      </p:sp>
      <p:sp>
        <p:nvSpPr>
          <p:cNvPr id="10" name="Shape 7"/>
          <p:cNvSpPr/>
          <p:nvPr/>
        </p:nvSpPr>
        <p:spPr>
          <a:xfrm>
            <a:off x="5204103" y="5003363"/>
            <a:ext cx="121920" cy="2634258"/>
          </a:xfrm>
          <a:prstGeom prst="roundRect">
            <a:avLst>
              <a:gd name="adj" fmla="val 73971"/>
            </a:avLst>
          </a:prstGeom>
          <a:solidFill>
            <a:srgbClr val="A95B95"/>
          </a:solidFill>
          <a:ln/>
        </p:spPr>
        <p:txBody>
          <a:bodyPr/>
          <a:lstStyle/>
          <a:p>
            <a:endParaRPr lang="tr-TR"/>
          </a:p>
        </p:txBody>
      </p:sp>
      <p:sp>
        <p:nvSpPr>
          <p:cNvPr id="11" name="Text 8"/>
          <p:cNvSpPr/>
          <p:nvPr/>
        </p:nvSpPr>
        <p:spPr>
          <a:xfrm>
            <a:off x="5571173" y="5248513"/>
            <a:ext cx="2385774" cy="298252"/>
          </a:xfrm>
          <a:prstGeom prst="rect">
            <a:avLst/>
          </a:prstGeom>
          <a:noFill/>
          <a:ln/>
        </p:spPr>
        <p:txBody>
          <a:bodyPr wrap="none" lIns="0" tIns="0" rIns="0" bIns="0" rtlCol="0" anchor="t"/>
          <a:lstStyle/>
          <a:p>
            <a:pPr marL="0" indent="0" algn="l">
              <a:lnSpc>
                <a:spcPts val="2300"/>
              </a:lnSpc>
              <a:buNone/>
            </a:pPr>
            <a:r>
              <a:rPr lang="en-US" sz="1850" dirty="0">
                <a:solidFill>
                  <a:srgbClr val="DAD8E9"/>
                </a:solidFill>
                <a:latin typeface="Prompt Medium" pitchFamily="34" charset="0"/>
                <a:ea typeface="Prompt Medium" pitchFamily="34" charset="-122"/>
                <a:cs typeface="Prompt Medium" pitchFamily="34" charset="-120"/>
              </a:rPr>
              <a:t>Integrated System</a:t>
            </a:r>
            <a:endParaRPr lang="en-US" sz="1850" dirty="0"/>
          </a:p>
        </p:txBody>
      </p:sp>
      <p:sp>
        <p:nvSpPr>
          <p:cNvPr id="12" name="Text 9"/>
          <p:cNvSpPr/>
          <p:nvPr/>
        </p:nvSpPr>
        <p:spPr>
          <a:xfrm>
            <a:off x="5571173" y="5675590"/>
            <a:ext cx="3579376" cy="1716881"/>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The system seamlessly combines spatial data handling, robust user authentication, and detailed performance analytics to deliver a smooth user experience.</a:t>
            </a:r>
            <a:endParaRPr lang="en-US" sz="1650" dirty="0"/>
          </a:p>
        </p:txBody>
      </p:sp>
      <p:sp>
        <p:nvSpPr>
          <p:cNvPr id="13" name="Shape 10"/>
          <p:cNvSpPr/>
          <p:nvPr/>
        </p:nvSpPr>
        <p:spPr>
          <a:xfrm>
            <a:off x="9610368" y="5003363"/>
            <a:ext cx="4161115" cy="2634258"/>
          </a:xfrm>
          <a:prstGeom prst="roundRect">
            <a:avLst>
              <a:gd name="adj" fmla="val 5554"/>
            </a:avLst>
          </a:prstGeom>
          <a:solidFill>
            <a:srgbClr val="0B0C23">
              <a:alpha val="95000"/>
            </a:srgbClr>
          </a:solidFill>
          <a:ln w="30480">
            <a:solidFill>
              <a:srgbClr val="6D4562"/>
            </a:solidFill>
            <a:prstDash val="solid"/>
          </a:ln>
        </p:spPr>
        <p:txBody>
          <a:bodyPr/>
          <a:lstStyle/>
          <a:p>
            <a:endParaRPr lang="tr-TR"/>
          </a:p>
        </p:txBody>
      </p:sp>
      <p:sp>
        <p:nvSpPr>
          <p:cNvPr id="14" name="Shape 11"/>
          <p:cNvSpPr/>
          <p:nvPr/>
        </p:nvSpPr>
        <p:spPr>
          <a:xfrm>
            <a:off x="9579888" y="5003363"/>
            <a:ext cx="121920" cy="2634258"/>
          </a:xfrm>
          <a:prstGeom prst="roundRect">
            <a:avLst>
              <a:gd name="adj" fmla="val 73971"/>
            </a:avLst>
          </a:prstGeom>
          <a:solidFill>
            <a:srgbClr val="A95B95"/>
          </a:solidFill>
          <a:ln/>
        </p:spPr>
        <p:txBody>
          <a:bodyPr/>
          <a:lstStyle/>
          <a:p>
            <a:endParaRPr lang="tr-TR"/>
          </a:p>
        </p:txBody>
      </p:sp>
      <p:sp>
        <p:nvSpPr>
          <p:cNvPr id="15" name="Text 12"/>
          <p:cNvSpPr/>
          <p:nvPr/>
        </p:nvSpPr>
        <p:spPr>
          <a:xfrm>
            <a:off x="9946958" y="5248513"/>
            <a:ext cx="3064312" cy="298252"/>
          </a:xfrm>
          <a:prstGeom prst="rect">
            <a:avLst/>
          </a:prstGeom>
          <a:noFill/>
          <a:ln/>
        </p:spPr>
        <p:txBody>
          <a:bodyPr wrap="none" lIns="0" tIns="0" rIns="0" bIns="0" rtlCol="0" anchor="t"/>
          <a:lstStyle/>
          <a:p>
            <a:pPr marL="0" indent="0" algn="l">
              <a:lnSpc>
                <a:spcPts val="2300"/>
              </a:lnSpc>
              <a:buNone/>
            </a:pPr>
            <a:r>
              <a:rPr lang="en-US" sz="1850" dirty="0">
                <a:solidFill>
                  <a:srgbClr val="DAD8E9"/>
                </a:solidFill>
                <a:latin typeface="Prompt Medium" pitchFamily="34" charset="0"/>
                <a:ea typeface="Prompt Medium" pitchFamily="34" charset="-122"/>
                <a:cs typeface="Prompt Medium" pitchFamily="34" charset="-120"/>
              </a:rPr>
              <a:t>Client-Server Architecture</a:t>
            </a:r>
            <a:endParaRPr lang="en-US" sz="1850" dirty="0"/>
          </a:p>
        </p:txBody>
      </p:sp>
      <p:sp>
        <p:nvSpPr>
          <p:cNvPr id="16" name="Text 13"/>
          <p:cNvSpPr/>
          <p:nvPr/>
        </p:nvSpPr>
        <p:spPr>
          <a:xfrm>
            <a:off x="9946958" y="5675590"/>
            <a:ext cx="3579376" cy="1716881"/>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The application's architecture follows a classic client-server model, ensuring scalability and efficient data management for both frontend and backend operations.</a:t>
            </a:r>
            <a:endParaRPr lang="en-US" sz="1650" dirty="0"/>
          </a:p>
        </p:txBody>
      </p:sp>
      <p:pic>
        <p:nvPicPr>
          <p:cNvPr id="18" name="Resim 17" descr="ekran görüntüsü, siyah içeren bir resim&#10;&#10;Yapay zeka tarafından oluşturulmuş içerik yanlış olabilir.">
            <a:extLst>
              <a:ext uri="{FF2B5EF4-FFF2-40B4-BE49-F238E27FC236}">
                <a16:creationId xmlns:a16="http://schemas.microsoft.com/office/drawing/2014/main" id="{8E3A3352-E5E5-FA8D-4836-2294904B8153}"/>
              </a:ext>
            </a:extLst>
          </p:cNvPr>
          <p:cNvPicPr>
            <a:picLocks noChangeAspect="1"/>
          </p:cNvPicPr>
          <p:nvPr/>
        </p:nvPicPr>
        <p:blipFill>
          <a:blip r:embed="rId4"/>
          <a:stretch>
            <a:fillRect/>
          </a:stretch>
        </p:blipFill>
        <p:spPr>
          <a:xfrm>
            <a:off x="12520407" y="7673208"/>
            <a:ext cx="2011854" cy="5182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361009" y="425172"/>
            <a:ext cx="5214699" cy="342662"/>
          </a:xfrm>
          <a:prstGeom prst="rect">
            <a:avLst/>
          </a:prstGeom>
          <a:noFill/>
          <a:ln/>
        </p:spPr>
        <p:txBody>
          <a:bodyPr wrap="none" lIns="0" tIns="0" rIns="0" bIns="0" rtlCol="0" anchor="t"/>
          <a:lstStyle/>
          <a:p>
            <a:pPr marL="0" indent="0" algn="l">
              <a:lnSpc>
                <a:spcPts val="2650"/>
              </a:lnSpc>
              <a:buNone/>
            </a:pPr>
            <a:r>
              <a:rPr lang="en-US" sz="2150" dirty="0">
                <a:solidFill>
                  <a:srgbClr val="C6BFEE"/>
                </a:solidFill>
                <a:latin typeface="Prompt Medium" pitchFamily="34" charset="0"/>
                <a:ea typeface="Prompt Medium" pitchFamily="34" charset="-122"/>
                <a:cs typeface="Prompt Medium" pitchFamily="34" charset="-120"/>
              </a:rPr>
              <a:t>System Architecture: Technology Stack</a:t>
            </a:r>
            <a:endParaRPr lang="en-US" sz="2150" dirty="0"/>
          </a:p>
        </p:txBody>
      </p:sp>
      <p:sp>
        <p:nvSpPr>
          <p:cNvPr id="3" name="Text 1"/>
          <p:cNvSpPr/>
          <p:nvPr/>
        </p:nvSpPr>
        <p:spPr>
          <a:xfrm>
            <a:off x="2361009" y="1076206"/>
            <a:ext cx="9908381"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The Geo Guess World application is built upon a robust and modern technology stack, ensuring both functionality and scalability. Each component is carefully selected to provide optimal performance and a seamless development experience.</a:t>
            </a:r>
            <a:endParaRPr lang="en-US" sz="1200" dirty="0"/>
          </a:p>
        </p:txBody>
      </p:sp>
      <p:sp>
        <p:nvSpPr>
          <p:cNvPr id="4" name="Shape 2"/>
          <p:cNvSpPr/>
          <p:nvPr/>
        </p:nvSpPr>
        <p:spPr>
          <a:xfrm>
            <a:off x="2361009" y="1916549"/>
            <a:ext cx="4766072" cy="1802011"/>
          </a:xfrm>
          <a:prstGeom prst="roundRect">
            <a:avLst>
              <a:gd name="adj" fmla="val 3594"/>
            </a:avLst>
          </a:prstGeom>
          <a:solidFill>
            <a:srgbClr val="542C49"/>
          </a:solidFill>
          <a:ln w="7620">
            <a:solidFill>
              <a:srgbClr val="6D4562"/>
            </a:solidFill>
            <a:prstDash val="solid"/>
          </a:ln>
        </p:spPr>
        <p:txBody>
          <a:bodyPr/>
          <a:lstStyle/>
          <a:p>
            <a:endParaRPr lang="tr-TR"/>
          </a:p>
        </p:txBody>
      </p:sp>
      <p:sp>
        <p:nvSpPr>
          <p:cNvPr id="5" name="Shape 3"/>
          <p:cNvSpPr/>
          <p:nvPr/>
        </p:nvSpPr>
        <p:spPr>
          <a:xfrm>
            <a:off x="2522815" y="2078355"/>
            <a:ext cx="462558" cy="462558"/>
          </a:xfrm>
          <a:prstGeom prst="roundRect">
            <a:avLst>
              <a:gd name="adj" fmla="val 19766355"/>
            </a:avLst>
          </a:prstGeom>
          <a:solidFill>
            <a:srgbClr val="A95B95"/>
          </a:solidFill>
          <a:ln/>
        </p:spPr>
        <p:txBody>
          <a:bodyPr/>
          <a:lstStyle/>
          <a:p>
            <a:endParaRPr lang="tr-TR"/>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49974" y="2205514"/>
            <a:ext cx="208121" cy="208121"/>
          </a:xfrm>
          <a:prstGeom prst="rect">
            <a:avLst/>
          </a:prstGeom>
        </p:spPr>
      </p:pic>
      <p:sp>
        <p:nvSpPr>
          <p:cNvPr id="7" name="Text 4"/>
          <p:cNvSpPr/>
          <p:nvPr/>
        </p:nvSpPr>
        <p:spPr>
          <a:xfrm>
            <a:off x="2522815" y="2695099"/>
            <a:ext cx="2558653" cy="214074"/>
          </a:xfrm>
          <a:prstGeom prst="rect">
            <a:avLst/>
          </a:prstGeom>
          <a:noFill/>
          <a:ln/>
        </p:spPr>
        <p:txBody>
          <a:bodyPr wrap="none" lIns="0" tIns="0" rIns="0" bIns="0" rtlCol="0" anchor="t"/>
          <a:lstStyle/>
          <a:p>
            <a:pPr marL="0" indent="0" algn="l">
              <a:lnSpc>
                <a:spcPts val="1650"/>
              </a:lnSpc>
              <a:buNone/>
            </a:pPr>
            <a:r>
              <a:rPr lang="en-US" sz="1300" dirty="0">
                <a:solidFill>
                  <a:srgbClr val="DAD8E9"/>
                </a:solidFill>
                <a:latin typeface="Prompt Medium" pitchFamily="34" charset="0"/>
                <a:ea typeface="Prompt Medium" pitchFamily="34" charset="-122"/>
                <a:cs typeface="Prompt Medium" pitchFamily="34" charset="-120"/>
              </a:rPr>
              <a:t>Backend: Node.js with Express</a:t>
            </a:r>
            <a:endParaRPr lang="en-US" sz="1300" dirty="0"/>
          </a:p>
        </p:txBody>
      </p:sp>
      <p:sp>
        <p:nvSpPr>
          <p:cNvPr id="8" name="Text 5"/>
          <p:cNvSpPr/>
          <p:nvPr/>
        </p:nvSpPr>
        <p:spPr>
          <a:xfrm>
            <a:off x="2522815" y="3063359"/>
            <a:ext cx="4442460"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Powers the server-side logic, API endpoints, and handles data processing.</a:t>
            </a:r>
            <a:endParaRPr lang="en-US" sz="1200" dirty="0"/>
          </a:p>
        </p:txBody>
      </p:sp>
      <p:sp>
        <p:nvSpPr>
          <p:cNvPr id="9" name="Shape 6"/>
          <p:cNvSpPr/>
          <p:nvPr/>
        </p:nvSpPr>
        <p:spPr>
          <a:xfrm>
            <a:off x="2361009" y="3872746"/>
            <a:ext cx="4766072" cy="1802011"/>
          </a:xfrm>
          <a:prstGeom prst="roundRect">
            <a:avLst>
              <a:gd name="adj" fmla="val 3594"/>
            </a:avLst>
          </a:prstGeom>
          <a:solidFill>
            <a:srgbClr val="542C49"/>
          </a:solidFill>
          <a:ln w="7620">
            <a:solidFill>
              <a:srgbClr val="6D4562"/>
            </a:solidFill>
            <a:prstDash val="solid"/>
          </a:ln>
        </p:spPr>
        <p:txBody>
          <a:bodyPr/>
          <a:lstStyle/>
          <a:p>
            <a:endParaRPr lang="tr-TR"/>
          </a:p>
        </p:txBody>
      </p:sp>
      <p:sp>
        <p:nvSpPr>
          <p:cNvPr id="10" name="Shape 7"/>
          <p:cNvSpPr/>
          <p:nvPr/>
        </p:nvSpPr>
        <p:spPr>
          <a:xfrm>
            <a:off x="2522815" y="4034552"/>
            <a:ext cx="462558" cy="462558"/>
          </a:xfrm>
          <a:prstGeom prst="roundRect">
            <a:avLst>
              <a:gd name="adj" fmla="val 19766355"/>
            </a:avLst>
          </a:prstGeom>
          <a:solidFill>
            <a:srgbClr val="A95B95"/>
          </a:solidFill>
          <a:ln/>
        </p:spPr>
        <p:txBody>
          <a:bodyPr/>
          <a:lstStyle/>
          <a:p>
            <a:endParaRPr lang="tr-TR"/>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49974" y="4161711"/>
            <a:ext cx="208121" cy="208121"/>
          </a:xfrm>
          <a:prstGeom prst="rect">
            <a:avLst/>
          </a:prstGeom>
        </p:spPr>
      </p:pic>
      <p:sp>
        <p:nvSpPr>
          <p:cNvPr id="12" name="Text 8"/>
          <p:cNvSpPr/>
          <p:nvPr/>
        </p:nvSpPr>
        <p:spPr>
          <a:xfrm>
            <a:off x="2522815" y="4651296"/>
            <a:ext cx="2629853" cy="214074"/>
          </a:xfrm>
          <a:prstGeom prst="rect">
            <a:avLst/>
          </a:prstGeom>
          <a:noFill/>
          <a:ln/>
        </p:spPr>
        <p:txBody>
          <a:bodyPr wrap="none" lIns="0" tIns="0" rIns="0" bIns="0" rtlCol="0" anchor="t"/>
          <a:lstStyle/>
          <a:p>
            <a:pPr marL="0" indent="0" algn="l">
              <a:lnSpc>
                <a:spcPts val="1650"/>
              </a:lnSpc>
              <a:buNone/>
            </a:pPr>
            <a:r>
              <a:rPr lang="en-US" sz="1300" dirty="0">
                <a:solidFill>
                  <a:srgbClr val="DAD8E9"/>
                </a:solidFill>
                <a:latin typeface="Prompt Medium" pitchFamily="34" charset="0"/>
                <a:ea typeface="Prompt Medium" pitchFamily="34" charset="-122"/>
                <a:cs typeface="Prompt Medium" pitchFamily="34" charset="-120"/>
              </a:rPr>
              <a:t>Database: PostgreSQL + PostGIS</a:t>
            </a:r>
            <a:endParaRPr lang="en-US" sz="1300" dirty="0"/>
          </a:p>
        </p:txBody>
      </p:sp>
      <p:sp>
        <p:nvSpPr>
          <p:cNvPr id="13" name="Text 9"/>
          <p:cNvSpPr/>
          <p:nvPr/>
        </p:nvSpPr>
        <p:spPr>
          <a:xfrm>
            <a:off x="2522815" y="5019556"/>
            <a:ext cx="4442460"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A powerful relational database with spatial extensions for efficient geospatial data storage and querying.</a:t>
            </a:r>
            <a:endParaRPr lang="en-US" sz="1200" dirty="0"/>
          </a:p>
        </p:txBody>
      </p:sp>
      <p:sp>
        <p:nvSpPr>
          <p:cNvPr id="14" name="Shape 10"/>
          <p:cNvSpPr/>
          <p:nvPr/>
        </p:nvSpPr>
        <p:spPr>
          <a:xfrm>
            <a:off x="2361009" y="5828943"/>
            <a:ext cx="4766072" cy="1802011"/>
          </a:xfrm>
          <a:prstGeom prst="roundRect">
            <a:avLst>
              <a:gd name="adj" fmla="val 3594"/>
            </a:avLst>
          </a:prstGeom>
          <a:solidFill>
            <a:srgbClr val="542C49"/>
          </a:solidFill>
          <a:ln w="7620">
            <a:solidFill>
              <a:srgbClr val="6D4562"/>
            </a:solidFill>
            <a:prstDash val="solid"/>
          </a:ln>
        </p:spPr>
        <p:txBody>
          <a:bodyPr/>
          <a:lstStyle/>
          <a:p>
            <a:endParaRPr lang="tr-TR"/>
          </a:p>
        </p:txBody>
      </p:sp>
      <p:sp>
        <p:nvSpPr>
          <p:cNvPr id="15" name="Shape 11"/>
          <p:cNvSpPr/>
          <p:nvPr/>
        </p:nvSpPr>
        <p:spPr>
          <a:xfrm>
            <a:off x="2522815" y="5990749"/>
            <a:ext cx="462558" cy="462558"/>
          </a:xfrm>
          <a:prstGeom prst="roundRect">
            <a:avLst>
              <a:gd name="adj" fmla="val 19766355"/>
            </a:avLst>
          </a:prstGeom>
          <a:solidFill>
            <a:srgbClr val="A95B95"/>
          </a:solidFill>
          <a:ln/>
        </p:spPr>
        <p:txBody>
          <a:bodyPr/>
          <a:lstStyle/>
          <a:p>
            <a:endParaRPr lang="tr-TR"/>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49974" y="6117908"/>
            <a:ext cx="208121" cy="208121"/>
          </a:xfrm>
          <a:prstGeom prst="rect">
            <a:avLst/>
          </a:prstGeom>
        </p:spPr>
      </p:pic>
      <p:sp>
        <p:nvSpPr>
          <p:cNvPr id="17" name="Text 12"/>
          <p:cNvSpPr/>
          <p:nvPr/>
        </p:nvSpPr>
        <p:spPr>
          <a:xfrm>
            <a:off x="2522815" y="6607492"/>
            <a:ext cx="2651046" cy="214074"/>
          </a:xfrm>
          <a:prstGeom prst="rect">
            <a:avLst/>
          </a:prstGeom>
          <a:noFill/>
          <a:ln/>
        </p:spPr>
        <p:txBody>
          <a:bodyPr wrap="none" lIns="0" tIns="0" rIns="0" bIns="0" rtlCol="0" anchor="t"/>
          <a:lstStyle/>
          <a:p>
            <a:pPr marL="0" indent="0" algn="l">
              <a:lnSpc>
                <a:spcPts val="1650"/>
              </a:lnSpc>
              <a:buNone/>
            </a:pPr>
            <a:r>
              <a:rPr lang="en-US" sz="1300" dirty="0">
                <a:solidFill>
                  <a:srgbClr val="DAD8E9"/>
                </a:solidFill>
                <a:latin typeface="Prompt Medium" pitchFamily="34" charset="0"/>
                <a:ea typeface="Prompt Medium" pitchFamily="34" charset="-122"/>
                <a:cs typeface="Prompt Medium" pitchFamily="34" charset="-120"/>
              </a:rPr>
              <a:t>Authentication: JWT and bcrypt</a:t>
            </a:r>
            <a:endParaRPr lang="en-US" sz="1300" dirty="0"/>
          </a:p>
        </p:txBody>
      </p:sp>
      <p:sp>
        <p:nvSpPr>
          <p:cNvPr id="18" name="Text 13"/>
          <p:cNvSpPr/>
          <p:nvPr/>
        </p:nvSpPr>
        <p:spPr>
          <a:xfrm>
            <a:off x="2522815" y="6975753"/>
            <a:ext cx="4442460"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Ensures secure user sessions and password hashing for enhanced security.</a:t>
            </a:r>
            <a:endParaRPr lang="en-US" sz="1200" dirty="0"/>
          </a:p>
        </p:txBody>
      </p:sp>
      <p:sp>
        <p:nvSpPr>
          <p:cNvPr id="19" name="Shape 14"/>
          <p:cNvSpPr/>
          <p:nvPr/>
        </p:nvSpPr>
        <p:spPr>
          <a:xfrm>
            <a:off x="7510939" y="1916549"/>
            <a:ext cx="4766072" cy="1802011"/>
          </a:xfrm>
          <a:prstGeom prst="roundRect">
            <a:avLst>
              <a:gd name="adj" fmla="val 3594"/>
            </a:avLst>
          </a:prstGeom>
          <a:solidFill>
            <a:srgbClr val="542C49"/>
          </a:solidFill>
          <a:ln w="7620">
            <a:solidFill>
              <a:srgbClr val="6D4562"/>
            </a:solidFill>
            <a:prstDash val="solid"/>
          </a:ln>
        </p:spPr>
        <p:txBody>
          <a:bodyPr/>
          <a:lstStyle/>
          <a:p>
            <a:endParaRPr lang="tr-TR"/>
          </a:p>
        </p:txBody>
      </p:sp>
      <p:sp>
        <p:nvSpPr>
          <p:cNvPr id="20" name="Shape 15"/>
          <p:cNvSpPr/>
          <p:nvPr/>
        </p:nvSpPr>
        <p:spPr>
          <a:xfrm>
            <a:off x="7672745" y="2078355"/>
            <a:ext cx="462558" cy="462558"/>
          </a:xfrm>
          <a:prstGeom prst="roundRect">
            <a:avLst>
              <a:gd name="adj" fmla="val 19766355"/>
            </a:avLst>
          </a:prstGeom>
          <a:solidFill>
            <a:srgbClr val="A95B95"/>
          </a:solidFill>
          <a:ln/>
        </p:spPr>
        <p:txBody>
          <a:bodyPr/>
          <a:lstStyle/>
          <a:p>
            <a:endParaRPr lang="tr-TR"/>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9903" y="2205514"/>
            <a:ext cx="208121" cy="208121"/>
          </a:xfrm>
          <a:prstGeom prst="rect">
            <a:avLst/>
          </a:prstGeom>
        </p:spPr>
      </p:pic>
      <p:sp>
        <p:nvSpPr>
          <p:cNvPr id="22" name="Text 16"/>
          <p:cNvSpPr/>
          <p:nvPr/>
        </p:nvSpPr>
        <p:spPr>
          <a:xfrm>
            <a:off x="7672745" y="2695099"/>
            <a:ext cx="3048000" cy="214074"/>
          </a:xfrm>
          <a:prstGeom prst="rect">
            <a:avLst/>
          </a:prstGeom>
          <a:noFill/>
          <a:ln/>
        </p:spPr>
        <p:txBody>
          <a:bodyPr wrap="none" lIns="0" tIns="0" rIns="0" bIns="0" rtlCol="0" anchor="t"/>
          <a:lstStyle/>
          <a:p>
            <a:pPr marL="0" indent="0" algn="l">
              <a:lnSpc>
                <a:spcPts val="1650"/>
              </a:lnSpc>
              <a:buNone/>
            </a:pPr>
            <a:r>
              <a:rPr lang="en-US" sz="1300" dirty="0">
                <a:solidFill>
                  <a:srgbClr val="DAD8E9"/>
                </a:solidFill>
                <a:latin typeface="Prompt Medium" pitchFamily="34" charset="0"/>
                <a:ea typeface="Prompt Medium" pitchFamily="34" charset="-122"/>
                <a:cs typeface="Prompt Medium" pitchFamily="34" charset="-120"/>
              </a:rPr>
              <a:t>Frontend: HTML, CSS, JS with Leaflet</a:t>
            </a:r>
            <a:endParaRPr lang="en-US" sz="1300" dirty="0"/>
          </a:p>
        </p:txBody>
      </p:sp>
      <p:sp>
        <p:nvSpPr>
          <p:cNvPr id="23" name="Text 17"/>
          <p:cNvSpPr/>
          <p:nvPr/>
        </p:nvSpPr>
        <p:spPr>
          <a:xfrm>
            <a:off x="7672745" y="3063359"/>
            <a:ext cx="4442460"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The interactive user interface, leveraging Leaflet for dynamic map visualization and user interaction.</a:t>
            </a:r>
            <a:endParaRPr lang="en-US" sz="1200" dirty="0"/>
          </a:p>
        </p:txBody>
      </p:sp>
      <p:sp>
        <p:nvSpPr>
          <p:cNvPr id="24" name="Shape 18"/>
          <p:cNvSpPr/>
          <p:nvPr/>
        </p:nvSpPr>
        <p:spPr>
          <a:xfrm>
            <a:off x="7510939" y="3872746"/>
            <a:ext cx="4766072" cy="1802011"/>
          </a:xfrm>
          <a:prstGeom prst="roundRect">
            <a:avLst>
              <a:gd name="adj" fmla="val 3594"/>
            </a:avLst>
          </a:prstGeom>
          <a:solidFill>
            <a:srgbClr val="542C49"/>
          </a:solidFill>
          <a:ln w="7620">
            <a:solidFill>
              <a:srgbClr val="6D4562"/>
            </a:solidFill>
            <a:prstDash val="solid"/>
          </a:ln>
        </p:spPr>
        <p:txBody>
          <a:bodyPr/>
          <a:lstStyle/>
          <a:p>
            <a:endParaRPr lang="tr-TR"/>
          </a:p>
        </p:txBody>
      </p:sp>
      <p:sp>
        <p:nvSpPr>
          <p:cNvPr id="25" name="Shape 19"/>
          <p:cNvSpPr/>
          <p:nvPr/>
        </p:nvSpPr>
        <p:spPr>
          <a:xfrm>
            <a:off x="7672745" y="4034552"/>
            <a:ext cx="462558" cy="462558"/>
          </a:xfrm>
          <a:prstGeom prst="roundRect">
            <a:avLst>
              <a:gd name="adj" fmla="val 19766355"/>
            </a:avLst>
          </a:prstGeom>
          <a:solidFill>
            <a:srgbClr val="A95B95"/>
          </a:solidFill>
          <a:ln/>
        </p:spPr>
        <p:txBody>
          <a:bodyPr/>
          <a:lstStyle/>
          <a:p>
            <a:endParaRPr lang="tr-TR"/>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99903" y="4161711"/>
            <a:ext cx="208121" cy="208121"/>
          </a:xfrm>
          <a:prstGeom prst="rect">
            <a:avLst/>
          </a:prstGeom>
        </p:spPr>
      </p:pic>
      <p:sp>
        <p:nvSpPr>
          <p:cNvPr id="27" name="Text 20"/>
          <p:cNvSpPr/>
          <p:nvPr/>
        </p:nvSpPr>
        <p:spPr>
          <a:xfrm>
            <a:off x="7672745" y="4651296"/>
            <a:ext cx="1853208" cy="214074"/>
          </a:xfrm>
          <a:prstGeom prst="rect">
            <a:avLst/>
          </a:prstGeom>
          <a:noFill/>
          <a:ln/>
        </p:spPr>
        <p:txBody>
          <a:bodyPr wrap="none" lIns="0" tIns="0" rIns="0" bIns="0" rtlCol="0" anchor="t"/>
          <a:lstStyle/>
          <a:p>
            <a:pPr marL="0" indent="0" algn="l">
              <a:lnSpc>
                <a:spcPts val="1650"/>
              </a:lnSpc>
              <a:buNone/>
            </a:pPr>
            <a:r>
              <a:rPr lang="en-US" sz="1300" dirty="0">
                <a:solidFill>
                  <a:srgbClr val="DAD8E9"/>
                </a:solidFill>
                <a:latin typeface="Prompt Medium" pitchFamily="34" charset="0"/>
                <a:ea typeface="Prompt Medium" pitchFamily="34" charset="-122"/>
                <a:cs typeface="Prompt Medium" pitchFamily="34" charset="-120"/>
              </a:rPr>
              <a:t>Deployment: AWS EC2</a:t>
            </a:r>
            <a:endParaRPr lang="en-US" sz="1300" dirty="0"/>
          </a:p>
        </p:txBody>
      </p:sp>
      <p:sp>
        <p:nvSpPr>
          <p:cNvPr id="28" name="Text 21"/>
          <p:cNvSpPr/>
          <p:nvPr/>
        </p:nvSpPr>
        <p:spPr>
          <a:xfrm>
            <a:off x="7672745" y="5019556"/>
            <a:ext cx="4442460" cy="493395"/>
          </a:xfrm>
          <a:prstGeom prst="rect">
            <a:avLst/>
          </a:prstGeom>
          <a:noFill/>
          <a:ln/>
        </p:spPr>
        <p:txBody>
          <a:bodyPr wrap="square" lIns="0" tIns="0" rIns="0" bIns="0" rtlCol="0" anchor="t"/>
          <a:lstStyle/>
          <a:p>
            <a:pPr marL="0" indent="0" algn="l">
              <a:lnSpc>
                <a:spcPts val="1900"/>
              </a:lnSpc>
              <a:buNone/>
            </a:pPr>
            <a:r>
              <a:rPr lang="en-US" sz="1200" dirty="0">
                <a:solidFill>
                  <a:srgbClr val="DAD8E9"/>
                </a:solidFill>
                <a:latin typeface="Mukta Light" pitchFamily="34" charset="0"/>
                <a:ea typeface="Mukta Light" pitchFamily="34" charset="-122"/>
                <a:cs typeface="Mukta Light" pitchFamily="34" charset="-120"/>
              </a:rPr>
              <a:t>Backend hosted on an Amazon EC2 instance, with the static frontend assets served by Express.</a:t>
            </a:r>
            <a:endParaRPr lang="en-US" sz="1200" dirty="0"/>
          </a:p>
        </p:txBody>
      </p:sp>
      <p:pic>
        <p:nvPicPr>
          <p:cNvPr id="30" name="Resim 29" descr="ekran görüntüsü, siyah içeren bir resim&#10;&#10;Yapay zeka tarafından oluşturulmuş içerik yanlış olabilir.">
            <a:extLst>
              <a:ext uri="{FF2B5EF4-FFF2-40B4-BE49-F238E27FC236}">
                <a16:creationId xmlns:a16="http://schemas.microsoft.com/office/drawing/2014/main" id="{CD810850-44B2-A3BC-AF56-44BCE6A8F56C}"/>
              </a:ext>
            </a:extLst>
          </p:cNvPr>
          <p:cNvPicPr>
            <a:picLocks noChangeAspect="1"/>
          </p:cNvPicPr>
          <p:nvPr/>
        </p:nvPicPr>
        <p:blipFill>
          <a:blip r:embed="rId13"/>
          <a:stretch>
            <a:fillRect/>
          </a:stretch>
        </p:blipFill>
        <p:spPr>
          <a:xfrm>
            <a:off x="12618546" y="7636741"/>
            <a:ext cx="2011854" cy="5182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64268" y="475298"/>
            <a:ext cx="5992058" cy="383977"/>
          </a:xfrm>
          <a:prstGeom prst="rect">
            <a:avLst/>
          </a:prstGeom>
          <a:noFill/>
          <a:ln/>
        </p:spPr>
        <p:txBody>
          <a:bodyPr wrap="none" lIns="0" tIns="0" rIns="0" bIns="0" rtlCol="0" anchor="t"/>
          <a:lstStyle/>
          <a:p>
            <a:pPr marL="0" indent="0" algn="l">
              <a:lnSpc>
                <a:spcPts val="3000"/>
              </a:lnSpc>
              <a:buNone/>
            </a:pPr>
            <a:r>
              <a:rPr lang="en-US" sz="2400" dirty="0">
                <a:solidFill>
                  <a:srgbClr val="C6BFEE"/>
                </a:solidFill>
                <a:latin typeface="Prompt Medium" pitchFamily="34" charset="0"/>
                <a:ea typeface="Prompt Medium" pitchFamily="34" charset="-122"/>
                <a:cs typeface="Prompt Medium" pitchFamily="34" charset="-120"/>
              </a:rPr>
              <a:t>Implemented Assignment Requirements</a:t>
            </a:r>
            <a:endParaRPr lang="en-US" sz="2400" dirty="0"/>
          </a:p>
        </p:txBody>
      </p:sp>
      <p:sp>
        <p:nvSpPr>
          <p:cNvPr id="3" name="Text 1"/>
          <p:cNvSpPr/>
          <p:nvPr/>
        </p:nvSpPr>
        <p:spPr>
          <a:xfrm>
            <a:off x="1764268" y="1204793"/>
            <a:ext cx="11101745" cy="552688"/>
          </a:xfrm>
          <a:prstGeom prst="rect">
            <a:avLst/>
          </a:prstGeom>
          <a:noFill/>
          <a:ln/>
        </p:spPr>
        <p:txBody>
          <a:bodyPr wrap="squar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The Geo Guess World project meticulously addresses key requirements for a comprehensive Web GIS application, demonstrating proficiency in various aspects of full-stack development.</a:t>
            </a:r>
            <a:endParaRPr lang="en-US" sz="1350" dirty="0"/>
          </a:p>
        </p:txBody>
      </p:sp>
      <p:sp>
        <p:nvSpPr>
          <p:cNvPr id="4" name="Shape 2"/>
          <p:cNvSpPr/>
          <p:nvPr/>
        </p:nvSpPr>
        <p:spPr>
          <a:xfrm>
            <a:off x="1764268" y="1951792"/>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5" name="Text 3"/>
          <p:cNvSpPr/>
          <p:nvPr/>
        </p:nvSpPr>
        <p:spPr>
          <a:xfrm>
            <a:off x="1843445" y="2002155"/>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1</a:t>
            </a:r>
            <a:endParaRPr lang="en-US" sz="1800" dirty="0"/>
          </a:p>
        </p:txBody>
      </p:sp>
      <p:sp>
        <p:nvSpPr>
          <p:cNvPr id="6" name="Text 4"/>
          <p:cNvSpPr/>
          <p:nvPr/>
        </p:nvSpPr>
        <p:spPr>
          <a:xfrm>
            <a:off x="2325767" y="2011085"/>
            <a:ext cx="2480191"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JWT-Based Authentication</a:t>
            </a:r>
            <a:endParaRPr lang="en-US" sz="1500" dirty="0"/>
          </a:p>
        </p:txBody>
      </p:sp>
      <p:sp>
        <p:nvSpPr>
          <p:cNvPr id="7" name="Text 5"/>
          <p:cNvSpPr/>
          <p:nvPr/>
        </p:nvSpPr>
        <p:spPr>
          <a:xfrm>
            <a:off x="2325767" y="2354580"/>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Secure user access management implemented with JSON Web Tokens, providing stateless and reliable authentication.</a:t>
            </a:r>
            <a:endParaRPr lang="en-US" sz="1350" dirty="0"/>
          </a:p>
        </p:txBody>
      </p:sp>
      <p:sp>
        <p:nvSpPr>
          <p:cNvPr id="8" name="Shape 6"/>
          <p:cNvSpPr/>
          <p:nvPr/>
        </p:nvSpPr>
        <p:spPr>
          <a:xfrm>
            <a:off x="1764268" y="2976443"/>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9" name="Text 7"/>
          <p:cNvSpPr/>
          <p:nvPr/>
        </p:nvSpPr>
        <p:spPr>
          <a:xfrm>
            <a:off x="1843445" y="3026807"/>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2</a:t>
            </a:r>
            <a:endParaRPr lang="en-US" sz="1800" dirty="0"/>
          </a:p>
        </p:txBody>
      </p:sp>
      <p:sp>
        <p:nvSpPr>
          <p:cNvPr id="10" name="Text 8"/>
          <p:cNvSpPr/>
          <p:nvPr/>
        </p:nvSpPr>
        <p:spPr>
          <a:xfrm>
            <a:off x="2325767" y="3035737"/>
            <a:ext cx="3238500"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Role-Based Access Control (RBAC)</a:t>
            </a:r>
            <a:endParaRPr lang="en-US" sz="1500" dirty="0"/>
          </a:p>
        </p:txBody>
      </p:sp>
      <p:sp>
        <p:nvSpPr>
          <p:cNvPr id="11" name="Text 9"/>
          <p:cNvSpPr/>
          <p:nvPr/>
        </p:nvSpPr>
        <p:spPr>
          <a:xfrm>
            <a:off x="2325767" y="3379232"/>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Distinction between Admin, Player, and Viewer roles, controlling access to different functionalities and data.</a:t>
            </a:r>
            <a:endParaRPr lang="en-US" sz="1350" dirty="0"/>
          </a:p>
        </p:txBody>
      </p:sp>
      <p:sp>
        <p:nvSpPr>
          <p:cNvPr id="12" name="Shape 10"/>
          <p:cNvSpPr/>
          <p:nvPr/>
        </p:nvSpPr>
        <p:spPr>
          <a:xfrm>
            <a:off x="1764268" y="4001095"/>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13" name="Text 11"/>
          <p:cNvSpPr/>
          <p:nvPr/>
        </p:nvSpPr>
        <p:spPr>
          <a:xfrm>
            <a:off x="1843445" y="4051459"/>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3</a:t>
            </a:r>
            <a:endParaRPr lang="en-US" sz="1800" dirty="0"/>
          </a:p>
        </p:txBody>
      </p:sp>
      <p:sp>
        <p:nvSpPr>
          <p:cNvPr id="14" name="Text 12"/>
          <p:cNvSpPr/>
          <p:nvPr/>
        </p:nvSpPr>
        <p:spPr>
          <a:xfrm>
            <a:off x="2325767" y="4060388"/>
            <a:ext cx="3121819"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CRUD Operations on Spatial Data</a:t>
            </a:r>
            <a:endParaRPr lang="en-US" sz="1500" dirty="0"/>
          </a:p>
        </p:txBody>
      </p:sp>
      <p:sp>
        <p:nvSpPr>
          <p:cNvPr id="15" name="Text 13"/>
          <p:cNvSpPr/>
          <p:nvPr/>
        </p:nvSpPr>
        <p:spPr>
          <a:xfrm>
            <a:off x="2325767" y="4403884"/>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Ability to Create, Read, Update, and Delete spatial point data, crucial for managing game locations.</a:t>
            </a:r>
            <a:endParaRPr lang="en-US" sz="1350" dirty="0"/>
          </a:p>
        </p:txBody>
      </p:sp>
      <p:sp>
        <p:nvSpPr>
          <p:cNvPr id="16" name="Shape 14"/>
          <p:cNvSpPr/>
          <p:nvPr/>
        </p:nvSpPr>
        <p:spPr>
          <a:xfrm>
            <a:off x="1764268" y="5025747"/>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17" name="Text 15"/>
          <p:cNvSpPr/>
          <p:nvPr/>
        </p:nvSpPr>
        <p:spPr>
          <a:xfrm>
            <a:off x="1843445" y="5076111"/>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4</a:t>
            </a:r>
            <a:endParaRPr lang="en-US" sz="1800" dirty="0"/>
          </a:p>
        </p:txBody>
      </p:sp>
      <p:sp>
        <p:nvSpPr>
          <p:cNvPr id="18" name="Text 16"/>
          <p:cNvSpPr/>
          <p:nvPr/>
        </p:nvSpPr>
        <p:spPr>
          <a:xfrm>
            <a:off x="2325767" y="5085040"/>
            <a:ext cx="3291007"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Non-Spatial Resource Management</a:t>
            </a:r>
            <a:endParaRPr lang="en-US" sz="1500" dirty="0"/>
          </a:p>
        </p:txBody>
      </p:sp>
      <p:sp>
        <p:nvSpPr>
          <p:cNvPr id="19" name="Text 17"/>
          <p:cNvSpPr/>
          <p:nvPr/>
        </p:nvSpPr>
        <p:spPr>
          <a:xfrm>
            <a:off x="2325767" y="5428536"/>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Handling of non-spatial data, specifically user scores, allowing for game progression and leaderboards.</a:t>
            </a:r>
            <a:endParaRPr lang="en-US" sz="1350" dirty="0"/>
          </a:p>
        </p:txBody>
      </p:sp>
      <p:sp>
        <p:nvSpPr>
          <p:cNvPr id="20" name="Shape 18"/>
          <p:cNvSpPr/>
          <p:nvPr/>
        </p:nvSpPr>
        <p:spPr>
          <a:xfrm>
            <a:off x="1764268" y="6050399"/>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21" name="Text 19"/>
          <p:cNvSpPr/>
          <p:nvPr/>
        </p:nvSpPr>
        <p:spPr>
          <a:xfrm>
            <a:off x="1843445" y="6100763"/>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5</a:t>
            </a:r>
            <a:endParaRPr lang="en-US" sz="1800" dirty="0"/>
          </a:p>
        </p:txBody>
      </p:sp>
      <p:sp>
        <p:nvSpPr>
          <p:cNvPr id="22" name="Text 20"/>
          <p:cNvSpPr/>
          <p:nvPr/>
        </p:nvSpPr>
        <p:spPr>
          <a:xfrm>
            <a:off x="2325767" y="6109692"/>
            <a:ext cx="3894653"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Performance Monitoring (Spatial Indexes)</a:t>
            </a:r>
            <a:endParaRPr lang="en-US" sz="1500" dirty="0"/>
          </a:p>
        </p:txBody>
      </p:sp>
      <p:sp>
        <p:nvSpPr>
          <p:cNvPr id="23" name="Text 21"/>
          <p:cNvSpPr/>
          <p:nvPr/>
        </p:nvSpPr>
        <p:spPr>
          <a:xfrm>
            <a:off x="2325767" y="6453188"/>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Implementation and analysis of spatial indexes to optimize query performance on geographical data.</a:t>
            </a:r>
            <a:endParaRPr lang="en-US" sz="1350" dirty="0"/>
          </a:p>
        </p:txBody>
      </p:sp>
      <p:sp>
        <p:nvSpPr>
          <p:cNvPr id="24" name="Shape 22"/>
          <p:cNvSpPr/>
          <p:nvPr/>
        </p:nvSpPr>
        <p:spPr>
          <a:xfrm>
            <a:off x="1764268" y="7075051"/>
            <a:ext cx="388739" cy="388739"/>
          </a:xfrm>
          <a:prstGeom prst="roundRect">
            <a:avLst>
              <a:gd name="adj" fmla="val 18667"/>
            </a:avLst>
          </a:prstGeom>
          <a:solidFill>
            <a:srgbClr val="542C49"/>
          </a:solidFill>
          <a:ln w="7620">
            <a:solidFill>
              <a:srgbClr val="6D4562"/>
            </a:solidFill>
            <a:prstDash val="solid"/>
          </a:ln>
        </p:spPr>
        <p:txBody>
          <a:bodyPr/>
          <a:lstStyle/>
          <a:p>
            <a:endParaRPr lang="tr-TR"/>
          </a:p>
        </p:txBody>
      </p:sp>
      <p:sp>
        <p:nvSpPr>
          <p:cNvPr id="25" name="Text 23"/>
          <p:cNvSpPr/>
          <p:nvPr/>
        </p:nvSpPr>
        <p:spPr>
          <a:xfrm>
            <a:off x="1843445" y="7125414"/>
            <a:ext cx="230267" cy="287893"/>
          </a:xfrm>
          <a:prstGeom prst="rect">
            <a:avLst/>
          </a:prstGeom>
          <a:noFill/>
          <a:ln/>
        </p:spPr>
        <p:txBody>
          <a:bodyPr wrap="none" lIns="0" tIns="0" rIns="0" bIns="0" rtlCol="0" anchor="t"/>
          <a:lstStyle/>
          <a:p>
            <a:pPr marL="0" indent="0" algn="ctr">
              <a:lnSpc>
                <a:spcPts val="1800"/>
              </a:lnSpc>
              <a:buNone/>
            </a:pPr>
            <a:r>
              <a:rPr lang="en-US" sz="1800" dirty="0">
                <a:solidFill>
                  <a:srgbClr val="DAD8E9"/>
                </a:solidFill>
                <a:latin typeface="Prompt Medium" pitchFamily="34" charset="0"/>
                <a:ea typeface="Prompt Medium" pitchFamily="34" charset="-122"/>
                <a:cs typeface="Prompt Medium" pitchFamily="34" charset="-120"/>
              </a:rPr>
              <a:t>6</a:t>
            </a:r>
            <a:endParaRPr lang="en-US" sz="1800" dirty="0"/>
          </a:p>
        </p:txBody>
      </p:sp>
      <p:sp>
        <p:nvSpPr>
          <p:cNvPr id="26" name="Text 24"/>
          <p:cNvSpPr/>
          <p:nvPr/>
        </p:nvSpPr>
        <p:spPr>
          <a:xfrm>
            <a:off x="2325767" y="7134344"/>
            <a:ext cx="2866668" cy="239911"/>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Load and Performance Testing</a:t>
            </a:r>
            <a:endParaRPr lang="en-US" sz="1500" dirty="0"/>
          </a:p>
        </p:txBody>
      </p:sp>
      <p:sp>
        <p:nvSpPr>
          <p:cNvPr id="27" name="Text 25"/>
          <p:cNvSpPr/>
          <p:nvPr/>
        </p:nvSpPr>
        <p:spPr>
          <a:xfrm>
            <a:off x="2325767" y="7477839"/>
            <a:ext cx="10540246" cy="276344"/>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Rigorous testing to ensure the application can handle expected user loads and maintain responsiveness.</a:t>
            </a:r>
            <a:endParaRPr lang="en-US" sz="1350" dirty="0"/>
          </a:p>
        </p:txBody>
      </p:sp>
      <p:pic>
        <p:nvPicPr>
          <p:cNvPr id="29" name="Resim 28" descr="ekran görüntüsü, siyah içeren bir resim&#10;&#10;Yapay zeka tarafından oluşturulmuş içerik yanlış olabilir.">
            <a:extLst>
              <a:ext uri="{FF2B5EF4-FFF2-40B4-BE49-F238E27FC236}">
                <a16:creationId xmlns:a16="http://schemas.microsoft.com/office/drawing/2014/main" id="{5C06DF51-A6D5-E263-32F3-CADAD45B08D9}"/>
              </a:ext>
            </a:extLst>
          </p:cNvPr>
          <p:cNvPicPr>
            <a:picLocks noChangeAspect="1"/>
          </p:cNvPicPr>
          <p:nvPr/>
        </p:nvPicPr>
        <p:blipFill>
          <a:blip r:embed="rId3"/>
          <a:stretch>
            <a:fillRect/>
          </a:stretch>
        </p:blipFill>
        <p:spPr>
          <a:xfrm>
            <a:off x="12618546" y="7616011"/>
            <a:ext cx="2011854" cy="5182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831538" y="471130"/>
            <a:ext cx="6052304" cy="379333"/>
          </a:xfrm>
          <a:prstGeom prst="rect">
            <a:avLst/>
          </a:prstGeom>
          <a:noFill/>
          <a:ln/>
        </p:spPr>
        <p:txBody>
          <a:bodyPr wrap="none" lIns="0" tIns="0" rIns="0" bIns="0" rtlCol="0" anchor="t"/>
          <a:lstStyle/>
          <a:p>
            <a:pPr marL="0" indent="0" algn="l">
              <a:lnSpc>
                <a:spcPts val="2950"/>
              </a:lnSpc>
              <a:buNone/>
            </a:pPr>
            <a:r>
              <a:rPr lang="en-US" sz="2350" dirty="0">
                <a:solidFill>
                  <a:srgbClr val="C6BFEE"/>
                </a:solidFill>
                <a:latin typeface="Prompt Medium" pitchFamily="34" charset="0"/>
                <a:ea typeface="Prompt Medium" pitchFamily="34" charset="-122"/>
                <a:cs typeface="Prompt Medium" pitchFamily="34" charset="-120"/>
              </a:rPr>
              <a:t>Spatial Data &amp; Performance Optimization</a:t>
            </a:r>
            <a:endParaRPr lang="en-US" sz="2350" dirty="0"/>
          </a:p>
        </p:txBody>
      </p:sp>
      <p:sp>
        <p:nvSpPr>
          <p:cNvPr id="3" name="Text 1"/>
          <p:cNvSpPr/>
          <p:nvPr/>
        </p:nvSpPr>
        <p:spPr>
          <a:xfrm>
            <a:off x="1831538" y="1191816"/>
            <a:ext cx="10967204" cy="546259"/>
          </a:xfrm>
          <a:prstGeom prst="rect">
            <a:avLst/>
          </a:prstGeom>
          <a:noFill/>
          <a:ln/>
        </p:spPr>
        <p:txBody>
          <a:bodyPr wrap="square" lIns="0" tIns="0" rIns="0" bIns="0" rtlCol="0" anchor="t"/>
          <a:lstStyle/>
          <a:p>
            <a:pPr marL="0" indent="0" algn="l">
              <a:lnSpc>
                <a:spcPts val="2150"/>
              </a:lnSpc>
              <a:buNone/>
            </a:pPr>
            <a:r>
              <a:rPr lang="en-US" sz="1300" dirty="0">
                <a:solidFill>
                  <a:srgbClr val="DAD8E9"/>
                </a:solidFill>
                <a:latin typeface="Mukta Light" pitchFamily="34" charset="0"/>
                <a:ea typeface="Mukta Light" pitchFamily="34" charset="-122"/>
                <a:cs typeface="Mukta Light" pitchFamily="34" charset="-120"/>
              </a:rPr>
              <a:t>Effective management and optimization of spatial data are critical for a responsive Web GIS application. Geo Guess World leverages PostGIS capabilities to ensure high performance for geographical queries.</a:t>
            </a:r>
            <a:endParaRPr lang="en-US" sz="1300" dirty="0"/>
          </a:p>
        </p:txBody>
      </p:sp>
      <p:sp>
        <p:nvSpPr>
          <p:cNvPr id="4" name="Text 2"/>
          <p:cNvSpPr/>
          <p:nvPr/>
        </p:nvSpPr>
        <p:spPr>
          <a:xfrm>
            <a:off x="1831538" y="2083594"/>
            <a:ext cx="5844540" cy="819388"/>
          </a:xfrm>
          <a:prstGeom prst="rect">
            <a:avLst/>
          </a:prstGeom>
          <a:noFill/>
          <a:ln/>
        </p:spPr>
        <p:txBody>
          <a:bodyPr wrap="square" lIns="0" tIns="0" rIns="0" bIns="0" rtlCol="0" anchor="t"/>
          <a:lstStyle/>
          <a:p>
            <a:pPr marL="0" indent="0" algn="l">
              <a:lnSpc>
                <a:spcPts val="2150"/>
              </a:lnSpc>
              <a:buNone/>
            </a:pPr>
            <a:r>
              <a:rPr lang="en-US" sz="1300" b="1" dirty="0">
                <a:solidFill>
                  <a:srgbClr val="DAD8E9"/>
                </a:solidFill>
                <a:latin typeface="Mukta Light" pitchFamily="34" charset="0"/>
                <a:ea typeface="Mukta Light" pitchFamily="34" charset="-122"/>
                <a:cs typeface="Mukta Light" pitchFamily="34" charset="-120"/>
              </a:rPr>
              <a:t>Spatial Data Storage:</a:t>
            </a:r>
            <a:r>
              <a:rPr lang="en-US" sz="1300" dirty="0">
                <a:solidFill>
                  <a:srgbClr val="DAD8E9"/>
                </a:solidFill>
                <a:latin typeface="Mukta Light" pitchFamily="34" charset="0"/>
                <a:ea typeface="Mukta Light" pitchFamily="34" charset="-122"/>
                <a:cs typeface="Mukta Light" pitchFamily="34" charset="-120"/>
              </a:rPr>
              <a:t> Geographical locations are stored as Point geometry with SRID 4326 (WGS84), a widely recognized standard for latitude and longitude coordinates. This ensures compatibility and accuracy for global mapping.</a:t>
            </a:r>
            <a:endParaRPr lang="en-US" sz="1300" dirty="0"/>
          </a:p>
        </p:txBody>
      </p:sp>
      <p:sp>
        <p:nvSpPr>
          <p:cNvPr id="5" name="Text 3"/>
          <p:cNvSpPr/>
          <p:nvPr/>
        </p:nvSpPr>
        <p:spPr>
          <a:xfrm>
            <a:off x="1831538" y="3056573"/>
            <a:ext cx="5844540" cy="1092518"/>
          </a:xfrm>
          <a:prstGeom prst="rect">
            <a:avLst/>
          </a:prstGeom>
          <a:noFill/>
          <a:ln/>
        </p:spPr>
        <p:txBody>
          <a:bodyPr wrap="square" lIns="0" tIns="0" rIns="0" bIns="0" rtlCol="0" anchor="t"/>
          <a:lstStyle/>
          <a:p>
            <a:pPr marL="0" indent="0" algn="l">
              <a:lnSpc>
                <a:spcPts val="2150"/>
              </a:lnSpc>
              <a:buNone/>
            </a:pPr>
            <a:r>
              <a:rPr lang="en-US" sz="1300" b="1" dirty="0">
                <a:solidFill>
                  <a:srgbClr val="DAD8E9"/>
                </a:solidFill>
                <a:latin typeface="Mukta Light" pitchFamily="34" charset="0"/>
                <a:ea typeface="Mukta Light" pitchFamily="34" charset="-122"/>
                <a:cs typeface="Mukta Light" pitchFamily="34" charset="-120"/>
              </a:rPr>
              <a:t>GiST Spatial Index:</a:t>
            </a:r>
            <a:r>
              <a:rPr lang="en-US" sz="1300" dirty="0">
                <a:solidFill>
                  <a:srgbClr val="DAD8E9"/>
                </a:solidFill>
                <a:latin typeface="Mukta Light" pitchFamily="34" charset="0"/>
                <a:ea typeface="Mukta Light" pitchFamily="34" charset="-122"/>
                <a:cs typeface="Mukta Light" pitchFamily="34" charset="-120"/>
              </a:rPr>
              <a:t> A Generalized Search Tree (GiST) index has been applied to the spatial column in the PostgreSQL database. This index is specifically designed to accelerate spatial queries, enabling faster retrieval of nearby locations or areas within a given extent.</a:t>
            </a:r>
            <a:endParaRPr lang="en-US" sz="1300" dirty="0"/>
          </a:p>
        </p:txBody>
      </p:sp>
      <p:sp>
        <p:nvSpPr>
          <p:cNvPr id="6" name="Text 4"/>
          <p:cNvSpPr/>
          <p:nvPr/>
        </p:nvSpPr>
        <p:spPr>
          <a:xfrm>
            <a:off x="1831538" y="4302681"/>
            <a:ext cx="5844540" cy="1107758"/>
          </a:xfrm>
          <a:prstGeom prst="rect">
            <a:avLst/>
          </a:prstGeom>
          <a:noFill/>
          <a:ln/>
        </p:spPr>
        <p:txBody>
          <a:bodyPr wrap="square" lIns="0" tIns="0" rIns="0" bIns="0" rtlCol="0" anchor="t"/>
          <a:lstStyle/>
          <a:p>
            <a:pPr marL="0" indent="0" algn="l">
              <a:lnSpc>
                <a:spcPts val="2150"/>
              </a:lnSpc>
              <a:buNone/>
            </a:pPr>
            <a:r>
              <a:rPr lang="en-US" sz="1300" b="1" dirty="0">
                <a:solidFill>
                  <a:srgbClr val="DAD8E9"/>
                </a:solidFill>
                <a:latin typeface="Mukta Light" pitchFamily="34" charset="0"/>
                <a:ea typeface="Mukta Light" pitchFamily="34" charset="-122"/>
                <a:cs typeface="Mukta Light" pitchFamily="34" charset="-120"/>
              </a:rPr>
              <a:t>Query Performance Testing:</a:t>
            </a:r>
            <a:r>
              <a:rPr lang="en-US" sz="1300" dirty="0">
                <a:solidFill>
                  <a:srgbClr val="DAD8E9"/>
                </a:solidFill>
                <a:latin typeface="Mukta Light" pitchFamily="34" charset="0"/>
                <a:ea typeface="Mukta Light" pitchFamily="34" charset="-122"/>
                <a:cs typeface="Mukta Light" pitchFamily="34" charset="-120"/>
              </a:rPr>
              <a:t> The efficiency of spatial queries was evaluated using PostgreSQL's </a:t>
            </a:r>
            <a:r>
              <a:rPr lang="en-US" sz="1300" dirty="0">
                <a:solidFill>
                  <a:srgbClr val="DAD8E9"/>
                </a:solidFill>
                <a:highlight>
                  <a:srgbClr val="181930"/>
                </a:highlight>
                <a:latin typeface="Consolas" pitchFamily="34" charset="0"/>
                <a:ea typeface="Consolas" pitchFamily="34" charset="-122"/>
                <a:cs typeface="Consolas" pitchFamily="34" charset="-120"/>
              </a:rPr>
              <a:t>EXPLAIN ANALYZE</a:t>
            </a:r>
            <a:r>
              <a:rPr lang="en-US" sz="1300" dirty="0">
                <a:solidFill>
                  <a:srgbClr val="DAD8E9"/>
                </a:solidFill>
                <a:latin typeface="Mukta Light" pitchFamily="34" charset="0"/>
                <a:ea typeface="Mukta Light" pitchFamily="34" charset="-122"/>
                <a:cs typeface="Mukta Light" pitchFamily="34" charset="-120"/>
              </a:rPr>
              <a:t> command. This tool provides detailed execution plans and runtime statistics, allowing for precise identification of performance bottlenecks.</a:t>
            </a:r>
            <a:endParaRPr lang="en-US" sz="1300" dirty="0"/>
          </a:p>
        </p:txBody>
      </p:sp>
      <p:pic>
        <p:nvPicPr>
          <p:cNvPr id="7" name="Image 0" descr="preencoded.png"/>
          <p:cNvPicPr>
            <a:picLocks noChangeAspect="1"/>
          </p:cNvPicPr>
          <p:nvPr/>
        </p:nvPicPr>
        <p:blipFill>
          <a:blip r:embed="rId3"/>
          <a:stretch>
            <a:fillRect/>
          </a:stretch>
        </p:blipFill>
        <p:spPr>
          <a:xfrm>
            <a:off x="8099941" y="2121932"/>
            <a:ext cx="4706303" cy="4706303"/>
          </a:xfrm>
          <a:prstGeom prst="rect">
            <a:avLst/>
          </a:prstGeom>
        </p:spPr>
      </p:pic>
      <p:sp>
        <p:nvSpPr>
          <p:cNvPr id="8" name="Text 5"/>
          <p:cNvSpPr/>
          <p:nvPr/>
        </p:nvSpPr>
        <p:spPr>
          <a:xfrm>
            <a:off x="1831538" y="7212092"/>
            <a:ext cx="10967204" cy="546259"/>
          </a:xfrm>
          <a:prstGeom prst="rect">
            <a:avLst/>
          </a:prstGeom>
          <a:noFill/>
          <a:ln/>
        </p:spPr>
        <p:txBody>
          <a:bodyPr wrap="square" lIns="0" tIns="0" rIns="0" bIns="0" rtlCol="0" anchor="t"/>
          <a:lstStyle/>
          <a:p>
            <a:pPr marL="0" indent="0" algn="l">
              <a:lnSpc>
                <a:spcPts val="2150"/>
              </a:lnSpc>
              <a:buNone/>
            </a:pPr>
            <a:r>
              <a:rPr lang="en-US" sz="1300" b="1" dirty="0">
                <a:solidFill>
                  <a:srgbClr val="DAD8E9"/>
                </a:solidFill>
                <a:latin typeface="Mukta Light" pitchFamily="34" charset="0"/>
                <a:ea typeface="Mukta Light" pitchFamily="34" charset="-122"/>
                <a:cs typeface="Mukta Light" pitchFamily="34" charset="-120"/>
              </a:rPr>
              <a:t>Results:</a:t>
            </a:r>
            <a:r>
              <a:rPr lang="en-US" sz="1300" dirty="0">
                <a:solidFill>
                  <a:srgbClr val="DAD8E9"/>
                </a:solidFill>
                <a:latin typeface="Mukta Light" pitchFamily="34" charset="0"/>
                <a:ea typeface="Mukta Light" pitchFamily="34" charset="-122"/>
                <a:cs typeface="Mukta Light" pitchFamily="34" charset="-120"/>
              </a:rPr>
              <a:t> Performance tests conclusively demonstrated that queries utilizing the GiST spatial index performed significantly faster compared to sequential scans, particularly for large datasets. This optimization is key to providing a smooth and responsive gameplay experience.</a:t>
            </a:r>
            <a:endParaRPr lang="en-US" sz="1300" dirty="0"/>
          </a:p>
        </p:txBody>
      </p:sp>
      <p:pic>
        <p:nvPicPr>
          <p:cNvPr id="10" name="Resim 9" descr="ekran görüntüsü, siyah içeren bir resim&#10;&#10;Yapay zeka tarafından oluşturulmuş içerik yanlış olabilir.">
            <a:extLst>
              <a:ext uri="{FF2B5EF4-FFF2-40B4-BE49-F238E27FC236}">
                <a16:creationId xmlns:a16="http://schemas.microsoft.com/office/drawing/2014/main" id="{4A2671B6-47B9-F7AD-557D-B5A74C63CAAD}"/>
              </a:ext>
            </a:extLst>
          </p:cNvPr>
          <p:cNvPicPr>
            <a:picLocks noChangeAspect="1"/>
          </p:cNvPicPr>
          <p:nvPr/>
        </p:nvPicPr>
        <p:blipFill>
          <a:blip r:embed="rId4"/>
          <a:stretch>
            <a:fillRect/>
          </a:stretch>
        </p:blipFill>
        <p:spPr>
          <a:xfrm>
            <a:off x="12549098" y="7641365"/>
            <a:ext cx="2011854" cy="5182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1544717"/>
            <a:ext cx="5697141"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Live Deployment on AWS EC2</a:t>
            </a:r>
            <a:endParaRPr lang="en-US" sz="3050" dirty="0"/>
          </a:p>
        </p:txBody>
      </p:sp>
      <p:sp>
        <p:nvSpPr>
          <p:cNvPr id="3" name="Text 1"/>
          <p:cNvSpPr/>
          <p:nvPr/>
        </p:nvSpPr>
        <p:spPr>
          <a:xfrm>
            <a:off x="881063" y="2474714"/>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Geo Guess World application is fully deployed and accessible online, providing a real-world demonstration of its capabilities. Hosting on AWS EC2 ensures scalability and reliability.</a:t>
            </a:r>
            <a:endParaRPr lang="en-US" sz="1700" dirty="0"/>
          </a:p>
        </p:txBody>
      </p:sp>
      <p:sp>
        <p:nvSpPr>
          <p:cNvPr id="4" name="Text 2"/>
          <p:cNvSpPr/>
          <p:nvPr/>
        </p:nvSpPr>
        <p:spPr>
          <a:xfrm>
            <a:off x="2585561" y="3427333"/>
            <a:ext cx="2401372"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Cloud Hosting</a:t>
            </a:r>
            <a:endParaRPr lang="en-US" sz="1900" dirty="0"/>
          </a:p>
        </p:txBody>
      </p:sp>
      <p:sp>
        <p:nvSpPr>
          <p:cNvPr id="5" name="Text 3"/>
          <p:cNvSpPr/>
          <p:nvPr/>
        </p:nvSpPr>
        <p:spPr>
          <a:xfrm>
            <a:off x="2585561" y="3865483"/>
            <a:ext cx="2401372" cy="28194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The backend server, powered by Node.js and Express, is hosted on an Amazon Elastic Compute Cloud (EC2) instance, ensuring high availability and scalability for the application.</a:t>
            </a:r>
            <a:endParaRPr lang="en-US" sz="1700" dirty="0"/>
          </a:p>
        </p:txBody>
      </p:sp>
      <p:sp>
        <p:nvSpPr>
          <p:cNvPr id="6" name="Text 4"/>
          <p:cNvSpPr/>
          <p:nvPr/>
        </p:nvSpPr>
        <p:spPr>
          <a:xfrm>
            <a:off x="6966704" y="3427333"/>
            <a:ext cx="2401372"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Integrated System</a:t>
            </a:r>
            <a:endParaRPr lang="en-US" sz="1900" dirty="0"/>
          </a:p>
        </p:txBody>
      </p:sp>
      <p:sp>
        <p:nvSpPr>
          <p:cNvPr id="7" name="Text 5"/>
          <p:cNvSpPr/>
          <p:nvPr/>
        </p:nvSpPr>
        <p:spPr>
          <a:xfrm>
            <a:off x="6966704" y="3865483"/>
            <a:ext cx="2401372" cy="246697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Both the backend API and the static frontend assets are seamlessly integrated and served from the same EC2 instance, streamlining deployment and communication.</a:t>
            </a:r>
            <a:endParaRPr lang="en-US" sz="1700" dirty="0"/>
          </a:p>
        </p:txBody>
      </p:sp>
      <p:sp>
        <p:nvSpPr>
          <p:cNvPr id="8" name="Text 6"/>
          <p:cNvSpPr/>
          <p:nvPr/>
        </p:nvSpPr>
        <p:spPr>
          <a:xfrm>
            <a:off x="11347847" y="3427333"/>
            <a:ext cx="2401491"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Live Access</a:t>
            </a:r>
            <a:endParaRPr lang="en-US" sz="1900" dirty="0"/>
          </a:p>
        </p:txBody>
      </p:sp>
      <p:sp>
        <p:nvSpPr>
          <p:cNvPr id="9" name="Text 7"/>
          <p:cNvSpPr/>
          <p:nvPr/>
        </p:nvSpPr>
        <p:spPr>
          <a:xfrm>
            <a:off x="11347847" y="3865483"/>
            <a:ext cx="2401491"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Users can register, log in, and play the Geo Guess World game directly through their web browsers.</a:t>
            </a:r>
            <a:endParaRPr lang="en-US" sz="1700" dirty="0"/>
          </a:p>
        </p:txBody>
      </p:sp>
      <p:sp>
        <p:nvSpPr>
          <p:cNvPr id="10" name="Text 8"/>
          <p:cNvSpPr/>
          <p:nvPr/>
        </p:nvSpPr>
        <p:spPr>
          <a:xfrm>
            <a:off x="11347847" y="5759768"/>
            <a:ext cx="2401491"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Access the Live Demo Here</a:t>
            </a:r>
            <a:endParaRPr lang="en-US" sz="1700" dirty="0"/>
          </a:p>
        </p:txBody>
      </p:sp>
      <p:pic>
        <p:nvPicPr>
          <p:cNvPr id="12" name="Resim 11" descr="ekran görüntüsü, siyah içeren bir resim&#10;&#10;Yapay zeka tarafından oluşturulmuş içerik yanlış olabilir.">
            <a:extLst>
              <a:ext uri="{FF2B5EF4-FFF2-40B4-BE49-F238E27FC236}">
                <a16:creationId xmlns:a16="http://schemas.microsoft.com/office/drawing/2014/main" id="{DE063DE9-CD7C-CCFD-C716-429E5450FADE}"/>
              </a:ext>
            </a:extLst>
          </p:cNvPr>
          <p:cNvPicPr>
            <a:picLocks noChangeAspect="1"/>
          </p:cNvPicPr>
          <p:nvPr/>
        </p:nvPicPr>
        <p:blipFill>
          <a:blip r:embed="rId3"/>
          <a:stretch>
            <a:fillRect/>
          </a:stretch>
        </p:blipFill>
        <p:spPr>
          <a:xfrm>
            <a:off x="12548592" y="7711395"/>
            <a:ext cx="2011854" cy="5182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21241" y="835104"/>
            <a:ext cx="6452473" cy="352663"/>
          </a:xfrm>
          <a:prstGeom prst="rect">
            <a:avLst/>
          </a:prstGeom>
          <a:noFill/>
          <a:ln/>
        </p:spPr>
        <p:txBody>
          <a:bodyPr wrap="none" lIns="0" tIns="0" rIns="0" bIns="0" rtlCol="0" anchor="t"/>
          <a:lstStyle/>
          <a:p>
            <a:pPr marL="0" indent="0" algn="l">
              <a:lnSpc>
                <a:spcPts val="2750"/>
              </a:lnSpc>
              <a:buNone/>
            </a:pPr>
            <a:r>
              <a:rPr lang="en-US" sz="2200" dirty="0">
                <a:solidFill>
                  <a:srgbClr val="C6BFEE"/>
                </a:solidFill>
                <a:latin typeface="Prompt Medium" pitchFamily="34" charset="0"/>
                <a:ea typeface="Prompt Medium" pitchFamily="34" charset="-122"/>
                <a:cs typeface="Prompt Medium" pitchFamily="34" charset="-120"/>
              </a:rPr>
              <a:t>Conclusion: A Comprehensive Web GIS Project</a:t>
            </a:r>
            <a:endParaRPr lang="en-US" sz="2200" dirty="0"/>
          </a:p>
        </p:txBody>
      </p:sp>
      <p:sp>
        <p:nvSpPr>
          <p:cNvPr id="4" name="Text 1"/>
          <p:cNvSpPr/>
          <p:nvPr/>
        </p:nvSpPr>
        <p:spPr>
          <a:xfrm>
            <a:off x="6121241" y="1425773"/>
            <a:ext cx="7874318" cy="507683"/>
          </a:xfrm>
          <a:prstGeom prst="rect">
            <a:avLst/>
          </a:prstGeom>
          <a:noFill/>
          <a:ln/>
        </p:spPr>
        <p:txBody>
          <a:bodyPr wrap="squar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The Geo Guess World project successfully demonstrates the integration of various essential components for a modern Web GIS application.</a:t>
            </a:r>
            <a:endParaRPr lang="en-US" sz="1200" dirty="0"/>
          </a:p>
        </p:txBody>
      </p:sp>
      <p:sp>
        <p:nvSpPr>
          <p:cNvPr id="5" name="Shape 2"/>
          <p:cNvSpPr/>
          <p:nvPr/>
        </p:nvSpPr>
        <p:spPr>
          <a:xfrm>
            <a:off x="6121241" y="2111931"/>
            <a:ext cx="634841" cy="1140619"/>
          </a:xfrm>
          <a:prstGeom prst="roundRect">
            <a:avLst>
              <a:gd name="adj" fmla="val 360018"/>
            </a:avLst>
          </a:prstGeom>
          <a:solidFill>
            <a:srgbClr val="542C49"/>
          </a:solidFill>
          <a:ln w="7620">
            <a:solidFill>
              <a:srgbClr val="6D4562"/>
            </a:solidFill>
            <a:prstDash val="solid"/>
          </a:ln>
        </p:spPr>
        <p:txBody>
          <a:bodyPr/>
          <a:lstStyle/>
          <a:p>
            <a:endParaRPr lang="tr-TR"/>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9599" y="2563178"/>
            <a:ext cx="238006" cy="238006"/>
          </a:xfrm>
          <a:prstGeom prst="rect">
            <a:avLst/>
          </a:prstGeom>
        </p:spPr>
      </p:pic>
      <p:sp>
        <p:nvSpPr>
          <p:cNvPr id="7" name="Text 3"/>
          <p:cNvSpPr/>
          <p:nvPr/>
        </p:nvSpPr>
        <p:spPr>
          <a:xfrm>
            <a:off x="6914793" y="2270641"/>
            <a:ext cx="1763435" cy="220385"/>
          </a:xfrm>
          <a:prstGeom prst="rect">
            <a:avLst/>
          </a:prstGeom>
          <a:noFill/>
          <a:ln/>
        </p:spPr>
        <p:txBody>
          <a:bodyPr wrap="none" lIns="0" tIns="0" rIns="0" bIns="0" rtlCol="0" anchor="t"/>
          <a:lstStyle/>
          <a:p>
            <a:pPr marL="0" indent="0" algn="l">
              <a:lnSpc>
                <a:spcPts val="1700"/>
              </a:lnSpc>
              <a:buNone/>
            </a:pPr>
            <a:r>
              <a:rPr lang="en-US" sz="1350" dirty="0">
                <a:solidFill>
                  <a:srgbClr val="DAD8E9"/>
                </a:solidFill>
                <a:latin typeface="Prompt Medium" pitchFamily="34" charset="0"/>
                <a:ea typeface="Prompt Medium" pitchFamily="34" charset="-122"/>
                <a:cs typeface="Prompt Medium" pitchFamily="34" charset="-120"/>
              </a:rPr>
              <a:t>Requirements Met</a:t>
            </a:r>
            <a:endParaRPr lang="en-US" sz="1350" dirty="0"/>
          </a:p>
        </p:txBody>
      </p:sp>
      <p:sp>
        <p:nvSpPr>
          <p:cNvPr id="8" name="Text 4"/>
          <p:cNvSpPr/>
          <p:nvPr/>
        </p:nvSpPr>
        <p:spPr>
          <a:xfrm>
            <a:off x="6914793" y="2586157"/>
            <a:ext cx="7080766" cy="507683"/>
          </a:xfrm>
          <a:prstGeom prst="rect">
            <a:avLst/>
          </a:prstGeom>
          <a:noFill/>
          <a:ln/>
        </p:spPr>
        <p:txBody>
          <a:bodyPr wrap="squar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All specified course requirements have been comprehensively addressed and implemented within the application.</a:t>
            </a:r>
            <a:endParaRPr lang="en-US" sz="1200" dirty="0"/>
          </a:p>
        </p:txBody>
      </p:sp>
      <p:sp>
        <p:nvSpPr>
          <p:cNvPr id="9" name="Shape 5"/>
          <p:cNvSpPr/>
          <p:nvPr/>
        </p:nvSpPr>
        <p:spPr>
          <a:xfrm>
            <a:off x="6121241" y="3411260"/>
            <a:ext cx="634841" cy="1140619"/>
          </a:xfrm>
          <a:prstGeom prst="roundRect">
            <a:avLst>
              <a:gd name="adj" fmla="val 360018"/>
            </a:avLst>
          </a:prstGeom>
          <a:solidFill>
            <a:srgbClr val="542C49"/>
          </a:solidFill>
          <a:ln w="7620">
            <a:solidFill>
              <a:srgbClr val="6D4562"/>
            </a:solidFill>
            <a:prstDash val="solid"/>
          </a:ln>
        </p:spPr>
        <p:txBody>
          <a:bodyPr/>
          <a:lstStyle/>
          <a:p>
            <a:endParaRPr lang="tr-TR"/>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19599" y="3862507"/>
            <a:ext cx="238006" cy="238006"/>
          </a:xfrm>
          <a:prstGeom prst="rect">
            <a:avLst/>
          </a:prstGeom>
        </p:spPr>
      </p:pic>
      <p:sp>
        <p:nvSpPr>
          <p:cNvPr id="11" name="Text 6"/>
          <p:cNvSpPr/>
          <p:nvPr/>
        </p:nvSpPr>
        <p:spPr>
          <a:xfrm>
            <a:off x="6914793" y="3569970"/>
            <a:ext cx="2001679" cy="220385"/>
          </a:xfrm>
          <a:prstGeom prst="rect">
            <a:avLst/>
          </a:prstGeom>
          <a:noFill/>
          <a:ln/>
        </p:spPr>
        <p:txBody>
          <a:bodyPr wrap="none" lIns="0" tIns="0" rIns="0" bIns="0" rtlCol="0" anchor="t"/>
          <a:lstStyle/>
          <a:p>
            <a:pPr marL="0" indent="0" algn="l">
              <a:lnSpc>
                <a:spcPts val="1700"/>
              </a:lnSpc>
              <a:buNone/>
            </a:pPr>
            <a:r>
              <a:rPr lang="en-US" sz="1350" dirty="0">
                <a:solidFill>
                  <a:srgbClr val="DAD8E9"/>
                </a:solidFill>
                <a:latin typeface="Prompt Medium" pitchFamily="34" charset="0"/>
                <a:ea typeface="Prompt Medium" pitchFamily="34" charset="-122"/>
                <a:cs typeface="Prompt Medium" pitchFamily="34" charset="-120"/>
              </a:rPr>
              <a:t>Full Stack Development</a:t>
            </a:r>
            <a:endParaRPr lang="en-US" sz="1350" dirty="0"/>
          </a:p>
        </p:txBody>
      </p:sp>
      <p:sp>
        <p:nvSpPr>
          <p:cNvPr id="12" name="Text 7"/>
          <p:cNvSpPr/>
          <p:nvPr/>
        </p:nvSpPr>
        <p:spPr>
          <a:xfrm>
            <a:off x="6914793" y="3885486"/>
            <a:ext cx="7080766" cy="507683"/>
          </a:xfrm>
          <a:prstGeom prst="rect">
            <a:avLst/>
          </a:prstGeom>
          <a:noFill/>
          <a:ln/>
        </p:spPr>
        <p:txBody>
          <a:bodyPr wrap="squar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Showcases end-to-end development skills from database management and backend logic to interactive frontend design.</a:t>
            </a:r>
            <a:endParaRPr lang="en-US" sz="1200" dirty="0"/>
          </a:p>
        </p:txBody>
      </p:sp>
      <p:sp>
        <p:nvSpPr>
          <p:cNvPr id="13" name="Shape 8"/>
          <p:cNvSpPr/>
          <p:nvPr/>
        </p:nvSpPr>
        <p:spPr>
          <a:xfrm>
            <a:off x="6121241" y="4710589"/>
            <a:ext cx="634841" cy="952262"/>
          </a:xfrm>
          <a:prstGeom prst="roundRect">
            <a:avLst>
              <a:gd name="adj" fmla="val 360018"/>
            </a:avLst>
          </a:prstGeom>
          <a:solidFill>
            <a:srgbClr val="542C49"/>
          </a:solidFill>
          <a:ln w="7620">
            <a:solidFill>
              <a:srgbClr val="6D4562"/>
            </a:solidFill>
            <a:prstDash val="solid"/>
          </a:ln>
        </p:spPr>
        <p:txBody>
          <a:bodyPr/>
          <a:lstStyle/>
          <a:p>
            <a:endParaRPr lang="tr-TR"/>
          </a:p>
        </p:txBody>
      </p:sp>
      <p:pic>
        <p:nvPicPr>
          <p:cNvPr id="1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19599" y="5067657"/>
            <a:ext cx="238006" cy="238006"/>
          </a:xfrm>
          <a:prstGeom prst="rect">
            <a:avLst/>
          </a:prstGeom>
        </p:spPr>
      </p:pic>
      <p:sp>
        <p:nvSpPr>
          <p:cNvPr id="15" name="Text 9"/>
          <p:cNvSpPr/>
          <p:nvPr/>
        </p:nvSpPr>
        <p:spPr>
          <a:xfrm>
            <a:off x="6914793" y="4869299"/>
            <a:ext cx="1763435" cy="220385"/>
          </a:xfrm>
          <a:prstGeom prst="rect">
            <a:avLst/>
          </a:prstGeom>
          <a:noFill/>
          <a:ln/>
        </p:spPr>
        <p:txBody>
          <a:bodyPr wrap="none" lIns="0" tIns="0" rIns="0" bIns="0" rtlCol="0" anchor="t"/>
          <a:lstStyle/>
          <a:p>
            <a:pPr marL="0" indent="0" algn="l">
              <a:lnSpc>
                <a:spcPts val="1700"/>
              </a:lnSpc>
              <a:buNone/>
            </a:pPr>
            <a:r>
              <a:rPr lang="en-US" sz="1350" dirty="0">
                <a:solidFill>
                  <a:srgbClr val="DAD8E9"/>
                </a:solidFill>
                <a:latin typeface="Prompt Medium" pitchFamily="34" charset="0"/>
                <a:ea typeface="Prompt Medium" pitchFamily="34" charset="-122"/>
                <a:cs typeface="Prompt Medium" pitchFamily="34" charset="-120"/>
              </a:rPr>
              <a:t>Key Integrations</a:t>
            </a:r>
            <a:endParaRPr lang="en-US" sz="1350" dirty="0"/>
          </a:p>
        </p:txBody>
      </p:sp>
      <p:sp>
        <p:nvSpPr>
          <p:cNvPr id="16" name="Text 10"/>
          <p:cNvSpPr/>
          <p:nvPr/>
        </p:nvSpPr>
        <p:spPr>
          <a:xfrm>
            <a:off x="6914793" y="5184815"/>
            <a:ext cx="7080766" cy="253841"/>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Successfully combines spatial data handling, robust security features, and critical performance optimizations.</a:t>
            </a:r>
            <a:endParaRPr lang="en-US" sz="1200" dirty="0"/>
          </a:p>
        </p:txBody>
      </p:sp>
      <p:sp>
        <p:nvSpPr>
          <p:cNvPr id="17" name="Shape 11"/>
          <p:cNvSpPr/>
          <p:nvPr/>
        </p:nvSpPr>
        <p:spPr>
          <a:xfrm>
            <a:off x="6121241" y="5821561"/>
            <a:ext cx="634841" cy="1140619"/>
          </a:xfrm>
          <a:prstGeom prst="roundRect">
            <a:avLst>
              <a:gd name="adj" fmla="val 360018"/>
            </a:avLst>
          </a:prstGeom>
          <a:solidFill>
            <a:srgbClr val="542C49"/>
          </a:solidFill>
          <a:ln w="7620">
            <a:solidFill>
              <a:srgbClr val="6D4562"/>
            </a:solidFill>
            <a:prstDash val="solid"/>
          </a:ln>
        </p:spPr>
        <p:txBody>
          <a:bodyPr/>
          <a:lstStyle/>
          <a:p>
            <a:endParaRPr lang="tr-TR"/>
          </a:p>
        </p:txBody>
      </p:sp>
      <p:pic>
        <p:nvPicPr>
          <p:cNvPr id="18"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19599" y="6272808"/>
            <a:ext cx="238006" cy="238006"/>
          </a:xfrm>
          <a:prstGeom prst="rect">
            <a:avLst/>
          </a:prstGeom>
        </p:spPr>
      </p:pic>
      <p:sp>
        <p:nvSpPr>
          <p:cNvPr id="19" name="Text 12"/>
          <p:cNvSpPr/>
          <p:nvPr/>
        </p:nvSpPr>
        <p:spPr>
          <a:xfrm>
            <a:off x="6914793" y="5980271"/>
            <a:ext cx="1763435" cy="220385"/>
          </a:xfrm>
          <a:prstGeom prst="rect">
            <a:avLst/>
          </a:prstGeom>
          <a:noFill/>
          <a:ln/>
        </p:spPr>
        <p:txBody>
          <a:bodyPr wrap="none" lIns="0" tIns="0" rIns="0" bIns="0" rtlCol="0" anchor="t"/>
          <a:lstStyle/>
          <a:p>
            <a:pPr marL="0" indent="0" algn="l">
              <a:lnSpc>
                <a:spcPts val="1700"/>
              </a:lnSpc>
              <a:buNone/>
            </a:pPr>
            <a:r>
              <a:rPr lang="en-US" sz="1350" dirty="0">
                <a:solidFill>
                  <a:srgbClr val="DAD8E9"/>
                </a:solidFill>
                <a:latin typeface="Prompt Medium" pitchFamily="34" charset="0"/>
                <a:ea typeface="Prompt Medium" pitchFamily="34" charset="-122"/>
                <a:cs typeface="Prompt Medium" pitchFamily="34" charset="-120"/>
              </a:rPr>
              <a:t>Future Potential</a:t>
            </a:r>
            <a:endParaRPr lang="en-US" sz="1350" dirty="0"/>
          </a:p>
        </p:txBody>
      </p:sp>
      <p:sp>
        <p:nvSpPr>
          <p:cNvPr id="20" name="Text 13"/>
          <p:cNvSpPr/>
          <p:nvPr/>
        </p:nvSpPr>
        <p:spPr>
          <a:xfrm>
            <a:off x="6914793" y="6295787"/>
            <a:ext cx="7080766" cy="507683"/>
          </a:xfrm>
          <a:prstGeom prst="rect">
            <a:avLst/>
          </a:prstGeom>
          <a:noFill/>
          <a:ln/>
        </p:spPr>
        <p:txBody>
          <a:bodyPr wrap="squar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Lays a solid foundation for further enhancements, such as additional game modes, more complex spatial analysis, and advanced user profiles.</a:t>
            </a:r>
            <a:endParaRPr lang="en-US" sz="1200" dirty="0"/>
          </a:p>
        </p:txBody>
      </p:sp>
      <p:sp>
        <p:nvSpPr>
          <p:cNvPr id="21" name="Text 14"/>
          <p:cNvSpPr/>
          <p:nvPr/>
        </p:nvSpPr>
        <p:spPr>
          <a:xfrm>
            <a:off x="6121241" y="7140654"/>
            <a:ext cx="7874318" cy="253841"/>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Thank you for your attention.</a:t>
            </a:r>
            <a:endParaRPr lang="en-US" sz="1200" dirty="0"/>
          </a:p>
        </p:txBody>
      </p:sp>
      <p:pic>
        <p:nvPicPr>
          <p:cNvPr id="23" name="Resim 22" descr="ekran görüntüsü, siyah içeren bir resim&#10;&#10;Yapay zeka tarafından oluşturulmuş içerik yanlış olabilir.">
            <a:extLst>
              <a:ext uri="{FF2B5EF4-FFF2-40B4-BE49-F238E27FC236}">
                <a16:creationId xmlns:a16="http://schemas.microsoft.com/office/drawing/2014/main" id="{55F00F9B-F93B-C6FB-0684-A5A21591E9AF}"/>
              </a:ext>
            </a:extLst>
          </p:cNvPr>
          <p:cNvPicPr>
            <a:picLocks noChangeAspect="1"/>
          </p:cNvPicPr>
          <p:nvPr/>
        </p:nvPicPr>
        <p:blipFill>
          <a:blip r:embed="rId12"/>
          <a:stretch>
            <a:fillRect/>
          </a:stretch>
        </p:blipFill>
        <p:spPr>
          <a:xfrm>
            <a:off x="12573714" y="7667936"/>
            <a:ext cx="2011854" cy="51820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875</Words>
  <Application>Microsoft Office PowerPoint</Application>
  <PresentationFormat>Özel</PresentationFormat>
  <Paragraphs>77</Paragraphs>
  <Slides>7</Slides>
  <Notes>7</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7</vt:i4>
      </vt:variant>
    </vt:vector>
  </HeadingPairs>
  <TitlesOfParts>
    <vt:vector size="12" baseType="lpstr">
      <vt:lpstr>Arial</vt:lpstr>
      <vt:lpstr>Prompt Medium</vt:lpstr>
      <vt:lpstr>Consolas</vt:lpstr>
      <vt:lpstr>Mukta Light</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Kübra Haydar</cp:lastModifiedBy>
  <cp:revision>2</cp:revision>
  <dcterms:created xsi:type="dcterms:W3CDTF">2026-01-10T16:18:47Z</dcterms:created>
  <dcterms:modified xsi:type="dcterms:W3CDTF">2026-01-10T16:20:21Z</dcterms:modified>
</cp:coreProperties>
</file>